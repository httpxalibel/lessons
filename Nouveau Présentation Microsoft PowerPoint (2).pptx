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9"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8958"/>
    <a:srgbClr val="40DC9D"/>
    <a:srgbClr val="008080"/>
    <a:srgbClr val="00FFCC"/>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688" autoAdjust="0"/>
  </p:normalViewPr>
  <p:slideViewPr>
    <p:cSldViewPr>
      <p:cViewPr varScale="1">
        <p:scale>
          <a:sx n="106" d="100"/>
          <a:sy n="106" d="100"/>
        </p:scale>
        <p:origin x="-168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AA309A6D-C09C-4548-B29A-6CF363A7E532}" type="datetimeFigureOut">
              <a:rPr lang="fr-FR" smtClean="0"/>
              <a:t>25/03/2026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4137317779"/>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A309A6D-C09C-4548-B29A-6CF363A7E532}" type="datetimeFigureOut">
              <a:rPr lang="fr-FR" smtClean="0"/>
              <a:t>25/03/2026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2892263891"/>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t>25/03/2026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816860957"/>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AA309A6D-C09C-4548-B29A-6CF363A7E532}" type="datetimeFigureOut">
              <a:rPr lang="fr-FR" smtClean="0"/>
              <a:t>25/03/2026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2355993487"/>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AA309A6D-C09C-4548-B29A-6CF363A7E532}" type="datetimeFigureOut">
              <a:rPr lang="fr-FR" smtClean="0"/>
              <a:t>25/03/2026</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688961529"/>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AA309A6D-C09C-4548-B29A-6CF363A7E532}" type="datetimeFigureOut">
              <a:rPr lang="fr-FR" smtClean="0"/>
              <a:t>25/03/2026</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116491329"/>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t>25/03/2026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45382215"/>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25/03/2026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4184262416"/>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25/03/2026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167649725"/>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A309A6D-C09C-4548-B29A-6CF363A7E532}" type="datetimeFigureOut">
              <a:rPr lang="fr-FR" smtClean="0"/>
              <a:t>25/03/2026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95232672"/>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AA309A6D-C09C-4548-B29A-6CF363A7E532}" type="datetimeFigureOut">
              <a:rPr lang="fr-FR" smtClean="0"/>
              <a:t>25/03/2026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980038852"/>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t>25/03/2026</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‹N°›</a:t>
            </a:fld>
            <a:endParaRPr lang="fr-BE"/>
          </a:p>
        </p:txBody>
      </p:sp>
    </p:spTree>
    <p:extLst>
      <p:ext uri="{BB962C8B-B14F-4D97-AF65-F5344CB8AC3E}">
        <p14:creationId xmlns:p14="http://schemas.microsoft.com/office/powerpoint/2010/main" val="37153312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السنة الدراسية 2014-2015\دروس خاصة برئيس الدورة\DSC_0048 cop.JPG"/>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66000"/>
                    </a14:imgEffect>
                  </a14:imgLayer>
                </a14:imgProps>
              </a:ext>
            </a:extLst>
          </a:blip>
          <a:srcRect/>
          <a:stretch>
            <a:fillRect/>
          </a:stretch>
        </p:blipFill>
        <p:spPr bwMode="auto">
          <a:xfrm>
            <a:off x="-89086" y="2032"/>
            <a:ext cx="9317414" cy="6863027"/>
          </a:xfrm>
          <a:prstGeom prst="rect">
            <a:avLst/>
          </a:prstGeom>
          <a:ln w="88900" cap="sq" cmpd="thickThin">
            <a:solidFill>
              <a:srgbClr val="000000"/>
            </a:solidFill>
            <a:prstDash val="solid"/>
            <a:miter lim="800000"/>
          </a:ln>
          <a:effectLst>
            <a:innerShdw blurRad="76200">
              <a:srgbClr val="000000"/>
            </a:innerShdw>
          </a:effectLst>
          <a:extLst/>
        </p:spPr>
      </p:pic>
      <p:sp>
        <p:nvSpPr>
          <p:cNvPr id="5" name="Rectangle 4"/>
          <p:cNvSpPr>
            <a:spLocks noChangeArrowheads="1"/>
          </p:cNvSpPr>
          <p:nvPr/>
        </p:nvSpPr>
        <p:spPr bwMode="auto">
          <a:xfrm>
            <a:off x="-109012" y="-42060"/>
            <a:ext cx="9317414" cy="1178768"/>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vert="horz" lIns="91440" tIns="45720" rIns="91440" bIns="45720" rtlCol="0" anchor="ctr">
            <a:noAutofit/>
          </a:bodyPr>
          <a:lstStyle/>
          <a:p>
            <a:pPr marL="0" marR="0" lvl="0" indent="0" algn="ctr" defTabSz="685800" rtl="1" eaLnBrk="1" fontAlgn="auto" latinLnBrk="0" hangingPunct="1">
              <a:lnSpc>
                <a:spcPct val="100000"/>
              </a:lnSpc>
              <a:spcBef>
                <a:spcPct val="0"/>
              </a:spcBef>
              <a:spcAft>
                <a:spcPts val="0"/>
              </a:spcAft>
              <a:buClrTx/>
              <a:buSzTx/>
              <a:buFontTx/>
              <a:buNone/>
              <a:tabLst/>
              <a:defRPr/>
            </a:pPr>
            <a:r>
              <a:rPr kumimoji="0" lang="ar-DZ" sz="2400" b="1" i="0" u="none" strike="noStrike" kern="0" cap="none" spc="0" normalizeH="0" baseline="0" noProof="0" dirty="0" smtClean="0">
                <a:ln>
                  <a:noFill/>
                </a:ln>
                <a:solidFill>
                  <a:prstClr val="black"/>
                </a:solidFill>
                <a:effectLst/>
                <a:uLnTx/>
                <a:uFillTx/>
                <a:latin typeface="Traditional Arabic" panose="02020603050405020304" pitchFamily="18" charset="-78"/>
                <a:ea typeface="Times New Roman"/>
                <a:cs typeface="Traditional Arabic" panose="02020603050405020304" pitchFamily="18" charset="-78"/>
              </a:rPr>
              <a:t>مدرسة </a:t>
            </a:r>
            <a:r>
              <a:rPr kumimoji="0" lang="ar-DZ" sz="2400" b="1" i="0" u="none" strike="noStrike" kern="0" cap="none" spc="0" normalizeH="0" baseline="0" noProof="0" dirty="0">
                <a:ln>
                  <a:noFill/>
                </a:ln>
                <a:solidFill>
                  <a:prstClr val="black"/>
                </a:solidFill>
                <a:effectLst/>
                <a:uLnTx/>
                <a:uFillTx/>
                <a:latin typeface="Traditional Arabic" panose="02020603050405020304" pitchFamily="18" charset="-78"/>
                <a:ea typeface="Times New Roman"/>
                <a:cs typeface="Traditional Arabic" panose="02020603050405020304" pitchFamily="18" charset="-78"/>
              </a:rPr>
              <a:t>إطارات الدفاع الجوي عن الإقليم الشهيد فراش </a:t>
            </a:r>
            <a:r>
              <a:rPr kumimoji="0" lang="ar-DZ" sz="2400" b="1" i="0" u="none" strike="noStrike" kern="0" cap="none" spc="0" normalizeH="0" baseline="0" noProof="0" dirty="0" smtClean="0">
                <a:ln>
                  <a:noFill/>
                </a:ln>
                <a:solidFill>
                  <a:prstClr val="black"/>
                </a:solidFill>
                <a:effectLst/>
                <a:uLnTx/>
                <a:uFillTx/>
                <a:latin typeface="Traditional Arabic" panose="02020603050405020304" pitchFamily="18" charset="-78"/>
                <a:ea typeface="Times New Roman"/>
                <a:cs typeface="Traditional Arabic" panose="02020603050405020304" pitchFamily="18" charset="-78"/>
              </a:rPr>
              <a:t>أحمد/ ن ع</a:t>
            </a:r>
            <a:r>
              <a:rPr kumimoji="0" lang="ar-DZ" sz="2400" b="1" i="0" u="none" strike="noStrike" kern="0" cap="none" spc="0" normalizeH="0" baseline="0" noProof="0" dirty="0" smtClean="0">
                <a:ln>
                  <a:noFill/>
                </a:ln>
                <a:solidFill>
                  <a:prstClr val="black"/>
                </a:solidFill>
                <a:effectLst/>
                <a:uLnTx/>
                <a:uFillTx/>
                <a:latin typeface="Traditional Arabic" panose="02020603050405020304" pitchFamily="18" charset="-78"/>
                <a:ea typeface="Times New Roman"/>
                <a:cs typeface="Arial"/>
              </a:rPr>
              <a:t>1</a:t>
            </a:r>
            <a:endParaRPr kumimoji="0" lang="fr-FR" sz="2400" b="1" i="0" u="none" strike="noStrike" kern="0" cap="none" spc="0" normalizeH="0" baseline="0" noProof="0" dirty="0">
              <a:ln>
                <a:noFill/>
              </a:ln>
              <a:solidFill>
                <a:prstClr val="black"/>
              </a:solidFill>
              <a:effectLst/>
              <a:uLnTx/>
              <a:uFillTx/>
              <a:latin typeface="Traditional Arabic" panose="02020603050405020304" pitchFamily="18" charset="-78"/>
              <a:ea typeface="Times New Roman"/>
              <a:cs typeface="+mn-cs"/>
            </a:endParaRPr>
          </a:p>
        </p:txBody>
      </p:sp>
      <p:sp>
        <p:nvSpPr>
          <p:cNvPr id="6" name="Rectangle 5"/>
          <p:cNvSpPr/>
          <p:nvPr/>
        </p:nvSpPr>
        <p:spPr>
          <a:xfrm>
            <a:off x="1164214" y="1556792"/>
            <a:ext cx="6408712" cy="3539430"/>
          </a:xfrm>
          <a:prstGeom prst="rect">
            <a:avLst/>
          </a:prstGeom>
        </p:spPr>
        <p:txBody>
          <a:bodyPr wrap="square">
            <a:spAutoFit/>
          </a:bodyPr>
          <a:lstStyle/>
          <a:p>
            <a:pPr algn="ctr"/>
            <a:r>
              <a:rPr lang="ar-DZ" sz="2800" b="1" dirty="0">
                <a:solidFill>
                  <a:srgbClr val="FF0000"/>
                </a:solidFill>
                <a:latin typeface="Traditional Arabic"/>
                <a:cs typeface="Traditional Arabic"/>
              </a:rPr>
              <a:t>الجمهورية الجزائرية الديمقراطية الشعبية</a:t>
            </a:r>
          </a:p>
          <a:p>
            <a:pPr algn="ctr"/>
            <a:r>
              <a:rPr lang="ar-DZ" sz="2800" b="1" dirty="0">
                <a:solidFill>
                  <a:srgbClr val="FF0000"/>
                </a:solidFill>
                <a:latin typeface="Traditional Arabic"/>
                <a:cs typeface="Traditional Arabic"/>
              </a:rPr>
              <a:t>وزارة الدفاع الوطني</a:t>
            </a:r>
          </a:p>
          <a:p>
            <a:pPr algn="ctr"/>
            <a:r>
              <a:rPr lang="ar-DZ" sz="2800" b="1" dirty="0">
                <a:solidFill>
                  <a:srgbClr val="FF0000"/>
                </a:solidFill>
                <a:latin typeface="Traditional Arabic"/>
                <a:cs typeface="Traditional Arabic"/>
              </a:rPr>
              <a:t>أركان الجيش الوطني الشعبي</a:t>
            </a:r>
          </a:p>
          <a:p>
            <a:pPr algn="ctr"/>
            <a:r>
              <a:rPr lang="ar-DZ" sz="2800" b="1" dirty="0">
                <a:solidFill>
                  <a:srgbClr val="FF0000"/>
                </a:solidFill>
                <a:latin typeface="Traditional Arabic"/>
                <a:cs typeface="Traditional Arabic"/>
              </a:rPr>
              <a:t>قيادة قوات الدفاع الجوي عن الإقليم</a:t>
            </a:r>
          </a:p>
          <a:p>
            <a:pPr algn="ctr"/>
            <a:r>
              <a:rPr lang="ar-DZ" sz="2800" b="1" dirty="0">
                <a:solidFill>
                  <a:srgbClr val="FF0000"/>
                </a:solidFill>
                <a:latin typeface="Traditional Arabic"/>
                <a:cs typeface="Traditional Arabic"/>
              </a:rPr>
              <a:t>الــــناحــــــــــــــــيــــــة العــــــــسكـــريــــــــــــة الأولـــــــــــــــــــى</a:t>
            </a:r>
          </a:p>
          <a:p>
            <a:pPr algn="ctr"/>
            <a:r>
              <a:rPr lang="ar-DZ" sz="2800" b="1" dirty="0">
                <a:solidFill>
                  <a:srgbClr val="FF0000"/>
                </a:solidFill>
                <a:latin typeface="Traditional Arabic"/>
                <a:cs typeface="Traditional Arabic"/>
              </a:rPr>
              <a:t>مــــــدرسة إطارات الدفاع الجوي عن الإقــــــــليم</a:t>
            </a:r>
          </a:p>
          <a:p>
            <a:pPr algn="ctr"/>
            <a:r>
              <a:rPr lang="ar-DZ" sz="2800" b="1" dirty="0">
                <a:solidFill>
                  <a:srgbClr val="FF0000"/>
                </a:solidFill>
                <a:latin typeface="Traditional Arabic"/>
                <a:cs typeface="Traditional Arabic"/>
              </a:rPr>
              <a:t> الشهيد فراش احمد /ن ع1</a:t>
            </a:r>
          </a:p>
        </p:txBody>
      </p:sp>
      <p:pic>
        <p:nvPicPr>
          <p:cNvPr id="7" name="Image 6"/>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2124" y="76200"/>
            <a:ext cx="1066581" cy="1065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C:\Users\Administrateur.SEC-CMD-01\Desktop\LOGO FINAL\logo3 final .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 y="76200"/>
            <a:ext cx="10795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202402"/>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3664792" y="1115692"/>
            <a:ext cx="2721802" cy="4977604"/>
          </a:xfrm>
          <a:prstGeom prst="roundRect">
            <a:avLst/>
          </a:prstGeom>
          <a:solidFill>
            <a:schemeClr val="accent5">
              <a:lumMod val="50000"/>
            </a:schemeClr>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4531077" y="2782222"/>
            <a:ext cx="1058213" cy="933517"/>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4304099" y="2564904"/>
            <a:ext cx="1512168" cy="1368152"/>
          </a:xfrm>
          <a:prstGeom prst="roundRect">
            <a:avLst/>
          </a:prstGeom>
          <a:solidFill>
            <a:schemeClr val="accent5">
              <a:lumMod val="50000"/>
            </a:schemeClr>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à coins arrondis 8"/>
          <p:cNvSpPr/>
          <p:nvPr/>
        </p:nvSpPr>
        <p:spPr>
          <a:xfrm>
            <a:off x="4556127" y="2780928"/>
            <a:ext cx="1008112" cy="936104"/>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à coins arrondis 9"/>
          <p:cNvSpPr/>
          <p:nvPr/>
        </p:nvSpPr>
        <p:spPr>
          <a:xfrm>
            <a:off x="4494971" y="2744924"/>
            <a:ext cx="1130424" cy="1008112"/>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à coins arrondis 10"/>
          <p:cNvSpPr/>
          <p:nvPr/>
        </p:nvSpPr>
        <p:spPr>
          <a:xfrm>
            <a:off x="4376514" y="2708920"/>
            <a:ext cx="1367339" cy="1080120"/>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à coins arrondis 11"/>
          <p:cNvSpPr/>
          <p:nvPr/>
        </p:nvSpPr>
        <p:spPr>
          <a:xfrm>
            <a:off x="4001691" y="2352975"/>
            <a:ext cx="2116985" cy="1792010"/>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à coins arrondis 12"/>
          <p:cNvSpPr/>
          <p:nvPr/>
        </p:nvSpPr>
        <p:spPr>
          <a:xfrm>
            <a:off x="4412111" y="2600908"/>
            <a:ext cx="1296144" cy="1296144"/>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à coins arrondis 13"/>
          <p:cNvSpPr/>
          <p:nvPr/>
        </p:nvSpPr>
        <p:spPr>
          <a:xfrm>
            <a:off x="4556127" y="2816932"/>
            <a:ext cx="1008112" cy="864097"/>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à coins arrondis 14"/>
          <p:cNvSpPr/>
          <p:nvPr/>
        </p:nvSpPr>
        <p:spPr>
          <a:xfrm>
            <a:off x="4479251" y="2749957"/>
            <a:ext cx="1161865" cy="998047"/>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à coins arrondis 15"/>
          <p:cNvSpPr/>
          <p:nvPr/>
        </p:nvSpPr>
        <p:spPr>
          <a:xfrm>
            <a:off x="4412111" y="2744924"/>
            <a:ext cx="1296144" cy="1008112"/>
          </a:xfrm>
          <a:prstGeom prst="roundRect">
            <a:avLst/>
          </a:prstGeom>
          <a:solidFill>
            <a:srgbClr val="008080"/>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à coins arrondis 16"/>
          <p:cNvSpPr/>
          <p:nvPr/>
        </p:nvSpPr>
        <p:spPr>
          <a:xfrm>
            <a:off x="4030444" y="2281408"/>
            <a:ext cx="2088232" cy="1872208"/>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à coins arrondis 17"/>
          <p:cNvSpPr/>
          <p:nvPr/>
        </p:nvSpPr>
        <p:spPr>
          <a:xfrm>
            <a:off x="4448115" y="2798930"/>
            <a:ext cx="1224136" cy="900100"/>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à coins arrondis 18"/>
          <p:cNvSpPr/>
          <p:nvPr/>
        </p:nvSpPr>
        <p:spPr>
          <a:xfrm>
            <a:off x="3857692" y="1250593"/>
            <a:ext cx="2336001" cy="3107254"/>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à coins arrondis 19"/>
          <p:cNvSpPr/>
          <p:nvPr/>
        </p:nvSpPr>
        <p:spPr>
          <a:xfrm>
            <a:off x="3923928" y="1250594"/>
            <a:ext cx="2129610" cy="4610300"/>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p:cNvSpPr txBox="1"/>
          <p:nvPr/>
        </p:nvSpPr>
        <p:spPr>
          <a:xfrm>
            <a:off x="4117385" y="3368786"/>
            <a:ext cx="1742694" cy="1569660"/>
          </a:xfrm>
          <a:prstGeom prst="rect">
            <a:avLst/>
          </a:prstGeom>
          <a:noFill/>
        </p:spPr>
        <p:txBody>
          <a:bodyPr wrap="square" rtlCol="0">
            <a:spAutoFit/>
          </a:bodyPr>
          <a:lstStyle/>
          <a:p>
            <a:pPr algn="ctr"/>
            <a:r>
              <a:rPr lang="ar-DZ" sz="2400" dirty="0" smtClean="0">
                <a:solidFill>
                  <a:schemeClr val="tx1">
                    <a:lumMod val="50000"/>
                    <a:lumOff val="50000"/>
                  </a:schemeClr>
                </a:solidFill>
              </a:rPr>
              <a:t>هذا العرض من اعداد طلبة ضباط صف متعاقدين سنة 2</a:t>
            </a:r>
            <a:endParaRPr lang="fr-FR" sz="2400" dirty="0">
              <a:solidFill>
                <a:schemeClr val="tx1">
                  <a:lumMod val="50000"/>
                  <a:lumOff val="50000"/>
                </a:schemeClr>
              </a:solidFill>
            </a:endParaRPr>
          </a:p>
        </p:txBody>
      </p:sp>
      <p:sp>
        <p:nvSpPr>
          <p:cNvPr id="3" name="ZoneTexte 2"/>
          <p:cNvSpPr txBox="1"/>
          <p:nvPr/>
        </p:nvSpPr>
        <p:spPr>
          <a:xfrm>
            <a:off x="3734665" y="2724747"/>
            <a:ext cx="2508135" cy="830997"/>
          </a:xfrm>
          <a:prstGeom prst="rect">
            <a:avLst/>
          </a:prstGeom>
          <a:noFill/>
        </p:spPr>
        <p:txBody>
          <a:bodyPr wrap="square" rtlCol="0">
            <a:spAutoFit/>
          </a:bodyPr>
          <a:lstStyle/>
          <a:p>
            <a:pPr algn="ctr"/>
            <a:r>
              <a:rPr lang="ar-DZ" sz="2400" dirty="0" smtClean="0">
                <a:solidFill>
                  <a:schemeClr val="tx1">
                    <a:lumMod val="50000"/>
                    <a:lumOff val="50000"/>
                  </a:schemeClr>
                </a:solidFill>
              </a:rPr>
              <a:t>اختصاص اشارة عامل على الكوابل و الشبكات</a:t>
            </a:r>
            <a:endParaRPr lang="fr-FR" sz="2400" dirty="0">
              <a:solidFill>
                <a:schemeClr val="tx1">
                  <a:lumMod val="50000"/>
                  <a:lumOff val="50000"/>
                </a:schemeClr>
              </a:solidFill>
            </a:endParaRPr>
          </a:p>
        </p:txBody>
      </p:sp>
      <p:sp>
        <p:nvSpPr>
          <p:cNvPr id="5" name="ZoneTexte 4"/>
          <p:cNvSpPr txBox="1"/>
          <p:nvPr/>
        </p:nvSpPr>
        <p:spPr>
          <a:xfrm>
            <a:off x="3810870" y="1754525"/>
            <a:ext cx="2355726" cy="1200329"/>
          </a:xfrm>
          <a:prstGeom prst="rect">
            <a:avLst/>
          </a:prstGeom>
          <a:noFill/>
        </p:spPr>
        <p:txBody>
          <a:bodyPr wrap="square" rtlCol="0">
            <a:spAutoFit/>
          </a:bodyPr>
          <a:lstStyle/>
          <a:p>
            <a:pPr algn="ctr"/>
            <a:r>
              <a:rPr lang="ar-DZ" sz="2400" dirty="0" smtClean="0">
                <a:solidFill>
                  <a:schemeClr val="tx1">
                    <a:lumMod val="50000"/>
                    <a:lumOff val="50000"/>
                  </a:schemeClr>
                </a:solidFill>
              </a:rPr>
              <a:t>اجهزة الالياف البصرية و المضاعفات</a:t>
            </a:r>
            <a:endParaRPr lang="fr-FR" sz="2400" dirty="0">
              <a:solidFill>
                <a:schemeClr val="tx1">
                  <a:lumMod val="50000"/>
                  <a:lumOff val="50000"/>
                </a:schemeClr>
              </a:solidFill>
            </a:endParaRPr>
          </a:p>
        </p:txBody>
      </p:sp>
      <p:sp>
        <p:nvSpPr>
          <p:cNvPr id="24" name="ZoneTexte 23"/>
          <p:cNvSpPr txBox="1"/>
          <p:nvPr/>
        </p:nvSpPr>
        <p:spPr>
          <a:xfrm>
            <a:off x="3956040" y="4797152"/>
            <a:ext cx="2104104" cy="830997"/>
          </a:xfrm>
          <a:prstGeom prst="rect">
            <a:avLst/>
          </a:prstGeom>
          <a:noFill/>
        </p:spPr>
        <p:txBody>
          <a:bodyPr wrap="square" rtlCol="0">
            <a:spAutoFit/>
          </a:bodyPr>
          <a:lstStyle/>
          <a:p>
            <a:pPr algn="ctr"/>
            <a:r>
              <a:rPr lang="ar-DZ" sz="2400" dirty="0" smtClean="0">
                <a:solidFill>
                  <a:schemeClr val="tx1">
                    <a:lumMod val="50000"/>
                    <a:lumOff val="50000"/>
                  </a:schemeClr>
                </a:solidFill>
              </a:rPr>
              <a:t>تحت اشراف النقيب</a:t>
            </a:r>
            <a:r>
              <a:rPr lang="ar-DZ" dirty="0" smtClean="0">
                <a:solidFill>
                  <a:schemeClr val="tx1">
                    <a:lumMod val="50000"/>
                    <a:lumOff val="50000"/>
                  </a:schemeClr>
                </a:solidFill>
              </a:rPr>
              <a:t>:</a:t>
            </a:r>
            <a:endParaRPr lang="fr-FR" dirty="0">
              <a:solidFill>
                <a:schemeClr val="tx1">
                  <a:lumMod val="50000"/>
                  <a:lumOff val="50000"/>
                </a:schemeClr>
              </a:solidFill>
            </a:endParaRPr>
          </a:p>
        </p:txBody>
      </p:sp>
      <p:sp>
        <p:nvSpPr>
          <p:cNvPr id="25" name="ZoneTexte 24"/>
          <p:cNvSpPr txBox="1"/>
          <p:nvPr/>
        </p:nvSpPr>
        <p:spPr>
          <a:xfrm>
            <a:off x="3309399" y="5397316"/>
            <a:ext cx="3247257" cy="461665"/>
          </a:xfrm>
          <a:prstGeom prst="rect">
            <a:avLst/>
          </a:prstGeom>
          <a:noFill/>
        </p:spPr>
        <p:txBody>
          <a:bodyPr wrap="square" rtlCol="0">
            <a:spAutoFit/>
          </a:bodyPr>
          <a:lstStyle/>
          <a:p>
            <a:pPr algn="ctr"/>
            <a:r>
              <a:rPr lang="ar-DZ" sz="2400" dirty="0" smtClean="0">
                <a:solidFill>
                  <a:schemeClr val="tx1">
                    <a:lumMod val="50000"/>
                    <a:lumOff val="50000"/>
                  </a:schemeClr>
                </a:solidFill>
              </a:rPr>
              <a:t>بوداود عبد الحليم</a:t>
            </a:r>
            <a:endParaRPr lang="fr-FR" sz="2400" dirty="0">
              <a:solidFill>
                <a:schemeClr val="tx1">
                  <a:lumMod val="50000"/>
                  <a:lumOff val="50000"/>
                </a:schemeClr>
              </a:solidFill>
            </a:endParaRPr>
          </a:p>
        </p:txBody>
      </p:sp>
      <p:sp>
        <p:nvSpPr>
          <p:cNvPr id="26" name="ZoneTexte 25"/>
          <p:cNvSpPr txBox="1"/>
          <p:nvPr/>
        </p:nvSpPr>
        <p:spPr>
          <a:xfrm>
            <a:off x="4179987" y="1292860"/>
            <a:ext cx="894573" cy="461665"/>
          </a:xfrm>
          <a:prstGeom prst="rect">
            <a:avLst/>
          </a:prstGeom>
          <a:noFill/>
        </p:spPr>
        <p:txBody>
          <a:bodyPr wrap="square" rtlCol="0">
            <a:spAutoFit/>
          </a:bodyPr>
          <a:lstStyle/>
          <a:p>
            <a:pPr algn="ctr"/>
            <a:r>
              <a:rPr lang="fr-FR" sz="2400" dirty="0" smtClean="0">
                <a:solidFill>
                  <a:schemeClr val="tx1">
                    <a:lumMod val="50000"/>
                    <a:lumOff val="50000"/>
                  </a:schemeClr>
                </a:solidFill>
              </a:rPr>
              <a:t>321</a:t>
            </a:r>
            <a:endParaRPr lang="fr-FR" sz="2400" dirty="0">
              <a:solidFill>
                <a:schemeClr val="tx1">
                  <a:lumMod val="50000"/>
                  <a:lumOff val="50000"/>
                </a:schemeClr>
              </a:solidFill>
            </a:endParaRPr>
          </a:p>
        </p:txBody>
      </p:sp>
      <p:sp>
        <p:nvSpPr>
          <p:cNvPr id="28" name="ZoneTexte 27"/>
          <p:cNvSpPr txBox="1"/>
          <p:nvPr/>
        </p:nvSpPr>
        <p:spPr>
          <a:xfrm>
            <a:off x="4907432" y="1115692"/>
            <a:ext cx="1278719" cy="830997"/>
          </a:xfrm>
          <a:prstGeom prst="rect">
            <a:avLst/>
          </a:prstGeom>
          <a:noFill/>
        </p:spPr>
        <p:txBody>
          <a:bodyPr wrap="square" rtlCol="0">
            <a:spAutoFit/>
          </a:bodyPr>
          <a:lstStyle/>
          <a:p>
            <a:pPr algn="ctr"/>
            <a:r>
              <a:rPr lang="ar-DZ" sz="2400" dirty="0" smtClean="0">
                <a:solidFill>
                  <a:schemeClr val="tx1">
                    <a:lumMod val="50000"/>
                    <a:lumOff val="50000"/>
                  </a:schemeClr>
                </a:solidFill>
              </a:rPr>
              <a:t>الفوج الثالث</a:t>
            </a:r>
            <a:endParaRPr lang="fr-FR" sz="2400" dirty="0">
              <a:solidFill>
                <a:schemeClr val="tx1">
                  <a:lumMod val="50000"/>
                  <a:lumOff val="50000"/>
                </a:schemeClr>
              </a:solidFill>
            </a:endParaRPr>
          </a:p>
        </p:txBody>
      </p:sp>
    </p:spTree>
    <p:extLst>
      <p:ext uri="{BB962C8B-B14F-4D97-AF65-F5344CB8AC3E}">
        <p14:creationId xmlns:p14="http://schemas.microsoft.com/office/powerpoint/2010/main" val="1549339990"/>
      </p:ext>
    </p:extLst>
  </p:cSld>
  <p:clrMapOvr>
    <a:masterClrMapping/>
  </p:clrMapOvr>
  <mc:AlternateContent xmlns:mc="http://schemas.openxmlformats.org/markup-compatibility/2006" xmlns:p14="http://schemas.microsoft.com/office/powerpoint/2010/main">
    <mc:Choice Requires="p14">
      <p:transition spd="slow" p14:dur="2000" advClick="0" advTm="1000">
        <p:wipe/>
      </p:transition>
    </mc:Choice>
    <mc:Fallback xmlns="">
      <p:transition spd="slow" advClick="0" advTm="1000">
        <p:wip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3059832" y="1001683"/>
            <a:ext cx="2721802" cy="2604801"/>
          </a:xfrm>
          <a:prstGeom prst="roundRect">
            <a:avLst/>
          </a:prstGeom>
          <a:solidFill>
            <a:schemeClr val="accent5">
              <a:lumMod val="50000"/>
            </a:schemeClr>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2697155" y="2711507"/>
            <a:ext cx="1058213" cy="933517"/>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1083871" y="3427427"/>
            <a:ext cx="1512168" cy="1368152"/>
          </a:xfrm>
          <a:prstGeom prst="roundRect">
            <a:avLst/>
          </a:prstGeom>
          <a:solidFill>
            <a:schemeClr val="accent5">
              <a:lumMod val="50000"/>
            </a:schemeClr>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à coins arrondis 8"/>
          <p:cNvSpPr/>
          <p:nvPr/>
        </p:nvSpPr>
        <p:spPr>
          <a:xfrm>
            <a:off x="5781634" y="116632"/>
            <a:ext cx="1008112" cy="936104"/>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à coins arrondis 9"/>
          <p:cNvSpPr/>
          <p:nvPr/>
        </p:nvSpPr>
        <p:spPr>
          <a:xfrm>
            <a:off x="6023012" y="4316313"/>
            <a:ext cx="1130424" cy="1008112"/>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à coins arrondis 10"/>
          <p:cNvSpPr/>
          <p:nvPr/>
        </p:nvSpPr>
        <p:spPr>
          <a:xfrm>
            <a:off x="6285689" y="5085184"/>
            <a:ext cx="1367339" cy="1080120"/>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à coins arrondis 11"/>
          <p:cNvSpPr/>
          <p:nvPr/>
        </p:nvSpPr>
        <p:spPr>
          <a:xfrm>
            <a:off x="2303748" y="476672"/>
            <a:ext cx="2116985" cy="1792010"/>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à coins arrondis 12"/>
          <p:cNvSpPr/>
          <p:nvPr/>
        </p:nvSpPr>
        <p:spPr>
          <a:xfrm>
            <a:off x="3743908" y="3645024"/>
            <a:ext cx="1296144" cy="1296144"/>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à coins arrondis 13"/>
          <p:cNvSpPr/>
          <p:nvPr/>
        </p:nvSpPr>
        <p:spPr>
          <a:xfrm>
            <a:off x="8028384" y="2767844"/>
            <a:ext cx="1008112" cy="864097"/>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à coins arrondis 14"/>
          <p:cNvSpPr/>
          <p:nvPr/>
        </p:nvSpPr>
        <p:spPr>
          <a:xfrm>
            <a:off x="4960843" y="558744"/>
            <a:ext cx="1161865" cy="998047"/>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à coins arrondis 15"/>
          <p:cNvSpPr/>
          <p:nvPr/>
        </p:nvSpPr>
        <p:spPr>
          <a:xfrm>
            <a:off x="3257904" y="5373216"/>
            <a:ext cx="1296144" cy="1008112"/>
          </a:xfrm>
          <a:prstGeom prst="roundRect">
            <a:avLst/>
          </a:prstGeom>
          <a:solidFill>
            <a:srgbClr val="008080"/>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à coins arrondis 16"/>
          <p:cNvSpPr/>
          <p:nvPr/>
        </p:nvSpPr>
        <p:spPr>
          <a:xfrm>
            <a:off x="4356077" y="2219719"/>
            <a:ext cx="2088232" cy="1872208"/>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à coins arrondis 17"/>
          <p:cNvSpPr/>
          <p:nvPr/>
        </p:nvSpPr>
        <p:spPr>
          <a:xfrm>
            <a:off x="1227887" y="5481228"/>
            <a:ext cx="1224136" cy="900100"/>
          </a:xfrm>
          <a:prstGeom prst="roundRect">
            <a:avLst/>
          </a:prstGeom>
          <a:solidFill>
            <a:srgbClr val="00FFCC"/>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à coins arrondis 18"/>
          <p:cNvSpPr/>
          <p:nvPr/>
        </p:nvSpPr>
        <p:spPr>
          <a:xfrm>
            <a:off x="1741345" y="4091927"/>
            <a:ext cx="2336001" cy="1886256"/>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à coins arrondis 19"/>
          <p:cNvSpPr/>
          <p:nvPr/>
        </p:nvSpPr>
        <p:spPr>
          <a:xfrm>
            <a:off x="6588224" y="1193328"/>
            <a:ext cx="2129610" cy="1963841"/>
          </a:xfrm>
          <a:prstGeom prst="roundRect">
            <a:avLst/>
          </a:prstGeom>
          <a:solidFill>
            <a:schemeClr val="bg1"/>
          </a:solidFill>
          <a:ln>
            <a:solidFill>
              <a:schemeClr val="bg1"/>
            </a:solidFill>
          </a:ln>
          <a:effectLst>
            <a:outerShdw blurRad="3175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p:cNvSpPr txBox="1"/>
          <p:nvPr/>
        </p:nvSpPr>
        <p:spPr>
          <a:xfrm>
            <a:off x="6805889" y="1372677"/>
            <a:ext cx="1742694" cy="1569660"/>
          </a:xfrm>
          <a:prstGeom prst="rect">
            <a:avLst/>
          </a:prstGeom>
          <a:noFill/>
        </p:spPr>
        <p:txBody>
          <a:bodyPr wrap="square" rtlCol="0">
            <a:spAutoFit/>
          </a:bodyPr>
          <a:lstStyle/>
          <a:p>
            <a:pPr algn="ctr"/>
            <a:r>
              <a:rPr lang="ar-DZ" sz="2400" dirty="0" smtClean="0">
                <a:solidFill>
                  <a:schemeClr val="tx1">
                    <a:lumMod val="50000"/>
                    <a:lumOff val="50000"/>
                  </a:schemeClr>
                </a:solidFill>
              </a:rPr>
              <a:t>هذا العرض من اعداد طلبة ضباط صف متعاقدين سنة 2</a:t>
            </a:r>
            <a:endParaRPr lang="fr-FR" sz="2400" dirty="0">
              <a:solidFill>
                <a:schemeClr val="tx1">
                  <a:lumMod val="50000"/>
                  <a:lumOff val="50000"/>
                </a:schemeClr>
              </a:solidFill>
            </a:endParaRPr>
          </a:p>
        </p:txBody>
      </p:sp>
      <p:sp>
        <p:nvSpPr>
          <p:cNvPr id="3" name="ZoneTexte 2"/>
          <p:cNvSpPr txBox="1"/>
          <p:nvPr/>
        </p:nvSpPr>
        <p:spPr>
          <a:xfrm>
            <a:off x="4435386" y="2599726"/>
            <a:ext cx="1929613" cy="1200329"/>
          </a:xfrm>
          <a:prstGeom prst="rect">
            <a:avLst/>
          </a:prstGeom>
          <a:noFill/>
        </p:spPr>
        <p:txBody>
          <a:bodyPr wrap="square" rtlCol="0">
            <a:spAutoFit/>
          </a:bodyPr>
          <a:lstStyle/>
          <a:p>
            <a:pPr algn="ctr"/>
            <a:r>
              <a:rPr lang="ar-DZ" sz="2400" dirty="0" smtClean="0">
                <a:solidFill>
                  <a:schemeClr val="tx1">
                    <a:lumMod val="50000"/>
                    <a:lumOff val="50000"/>
                  </a:schemeClr>
                </a:solidFill>
              </a:rPr>
              <a:t>اختصاص اشارة عامل على الكوابل و الشبكات</a:t>
            </a:r>
            <a:endParaRPr lang="fr-FR" sz="2400" dirty="0">
              <a:solidFill>
                <a:schemeClr val="tx1">
                  <a:lumMod val="50000"/>
                  <a:lumOff val="50000"/>
                </a:schemeClr>
              </a:solidFill>
            </a:endParaRPr>
          </a:p>
        </p:txBody>
      </p:sp>
      <p:sp>
        <p:nvSpPr>
          <p:cNvPr id="5" name="ZoneTexte 4"/>
          <p:cNvSpPr txBox="1"/>
          <p:nvPr/>
        </p:nvSpPr>
        <p:spPr>
          <a:xfrm>
            <a:off x="2590283" y="772512"/>
            <a:ext cx="1543913" cy="1200329"/>
          </a:xfrm>
          <a:prstGeom prst="rect">
            <a:avLst/>
          </a:prstGeom>
          <a:noFill/>
        </p:spPr>
        <p:txBody>
          <a:bodyPr wrap="square" rtlCol="0">
            <a:spAutoFit/>
          </a:bodyPr>
          <a:lstStyle/>
          <a:p>
            <a:pPr algn="ctr"/>
            <a:r>
              <a:rPr lang="ar-DZ" sz="2400" dirty="0" smtClean="0">
                <a:solidFill>
                  <a:schemeClr val="tx1">
                    <a:lumMod val="50000"/>
                    <a:lumOff val="50000"/>
                  </a:schemeClr>
                </a:solidFill>
              </a:rPr>
              <a:t>اجهزة الالياف البصرية و المضاعفات</a:t>
            </a:r>
            <a:endParaRPr lang="fr-FR" sz="2400" dirty="0">
              <a:solidFill>
                <a:schemeClr val="tx1">
                  <a:lumMod val="50000"/>
                  <a:lumOff val="50000"/>
                </a:schemeClr>
              </a:solidFill>
            </a:endParaRPr>
          </a:p>
        </p:txBody>
      </p:sp>
      <p:sp>
        <p:nvSpPr>
          <p:cNvPr id="24" name="ZoneTexte 23"/>
          <p:cNvSpPr txBox="1"/>
          <p:nvPr/>
        </p:nvSpPr>
        <p:spPr>
          <a:xfrm>
            <a:off x="2072149" y="4235840"/>
            <a:ext cx="1872207" cy="830997"/>
          </a:xfrm>
          <a:prstGeom prst="rect">
            <a:avLst/>
          </a:prstGeom>
          <a:noFill/>
        </p:spPr>
        <p:txBody>
          <a:bodyPr wrap="square" rtlCol="0">
            <a:spAutoFit/>
          </a:bodyPr>
          <a:lstStyle/>
          <a:p>
            <a:pPr algn="ctr"/>
            <a:r>
              <a:rPr lang="ar-DZ" sz="2400" dirty="0" smtClean="0">
                <a:solidFill>
                  <a:schemeClr val="tx1">
                    <a:lumMod val="50000"/>
                    <a:lumOff val="50000"/>
                  </a:schemeClr>
                </a:solidFill>
              </a:rPr>
              <a:t>تحت اشراف النقيب</a:t>
            </a:r>
            <a:r>
              <a:rPr lang="ar-DZ" dirty="0" smtClean="0">
                <a:solidFill>
                  <a:schemeClr val="tx1">
                    <a:lumMod val="50000"/>
                    <a:lumOff val="50000"/>
                  </a:schemeClr>
                </a:solidFill>
              </a:rPr>
              <a:t>:</a:t>
            </a:r>
            <a:endParaRPr lang="fr-FR" dirty="0">
              <a:solidFill>
                <a:schemeClr val="tx1">
                  <a:lumMod val="50000"/>
                  <a:lumOff val="50000"/>
                </a:schemeClr>
              </a:solidFill>
            </a:endParaRPr>
          </a:p>
        </p:txBody>
      </p:sp>
      <p:sp>
        <p:nvSpPr>
          <p:cNvPr id="25" name="ZoneTexte 24"/>
          <p:cNvSpPr txBox="1"/>
          <p:nvPr/>
        </p:nvSpPr>
        <p:spPr>
          <a:xfrm>
            <a:off x="2051721" y="5188550"/>
            <a:ext cx="1854256" cy="461665"/>
          </a:xfrm>
          <a:prstGeom prst="rect">
            <a:avLst/>
          </a:prstGeom>
          <a:noFill/>
        </p:spPr>
        <p:txBody>
          <a:bodyPr wrap="square" rtlCol="0">
            <a:spAutoFit/>
          </a:bodyPr>
          <a:lstStyle/>
          <a:p>
            <a:pPr algn="ctr"/>
            <a:r>
              <a:rPr lang="ar-DZ" sz="2400" dirty="0" smtClean="0">
                <a:solidFill>
                  <a:schemeClr val="tx1">
                    <a:lumMod val="50000"/>
                    <a:lumOff val="50000"/>
                  </a:schemeClr>
                </a:solidFill>
              </a:rPr>
              <a:t>بوداود عبد الحليم</a:t>
            </a:r>
            <a:endParaRPr lang="fr-FR" sz="2400" dirty="0">
              <a:solidFill>
                <a:schemeClr val="tx1">
                  <a:lumMod val="50000"/>
                  <a:lumOff val="50000"/>
                </a:schemeClr>
              </a:solidFill>
            </a:endParaRPr>
          </a:p>
        </p:txBody>
      </p:sp>
      <p:sp>
        <p:nvSpPr>
          <p:cNvPr id="26" name="ZoneTexte 25"/>
          <p:cNvSpPr txBox="1"/>
          <p:nvPr/>
        </p:nvSpPr>
        <p:spPr>
          <a:xfrm>
            <a:off x="5179640" y="759812"/>
            <a:ext cx="730932" cy="461665"/>
          </a:xfrm>
          <a:prstGeom prst="rect">
            <a:avLst/>
          </a:prstGeom>
          <a:noFill/>
        </p:spPr>
        <p:txBody>
          <a:bodyPr wrap="square" rtlCol="0">
            <a:spAutoFit/>
          </a:bodyPr>
          <a:lstStyle/>
          <a:p>
            <a:pPr algn="ctr"/>
            <a:r>
              <a:rPr lang="fr-FR" sz="2400" dirty="0" smtClean="0">
                <a:solidFill>
                  <a:schemeClr val="tx1">
                    <a:lumMod val="50000"/>
                    <a:lumOff val="50000"/>
                  </a:schemeClr>
                </a:solidFill>
              </a:rPr>
              <a:t>321</a:t>
            </a:r>
            <a:endParaRPr lang="fr-FR" sz="2400" dirty="0">
              <a:solidFill>
                <a:schemeClr val="tx1">
                  <a:lumMod val="50000"/>
                  <a:lumOff val="50000"/>
                </a:schemeClr>
              </a:solidFill>
            </a:endParaRPr>
          </a:p>
        </p:txBody>
      </p:sp>
      <p:sp>
        <p:nvSpPr>
          <p:cNvPr id="28" name="ZoneTexte 27"/>
          <p:cNvSpPr txBox="1"/>
          <p:nvPr/>
        </p:nvSpPr>
        <p:spPr>
          <a:xfrm>
            <a:off x="6444309" y="5234716"/>
            <a:ext cx="1045270" cy="830997"/>
          </a:xfrm>
          <a:prstGeom prst="rect">
            <a:avLst/>
          </a:prstGeom>
          <a:noFill/>
        </p:spPr>
        <p:txBody>
          <a:bodyPr wrap="square" rtlCol="0">
            <a:spAutoFit/>
          </a:bodyPr>
          <a:lstStyle/>
          <a:p>
            <a:pPr algn="ctr"/>
            <a:r>
              <a:rPr lang="ar-DZ" sz="2400" dirty="0" smtClean="0">
                <a:solidFill>
                  <a:schemeClr val="tx1">
                    <a:lumMod val="50000"/>
                    <a:lumOff val="50000"/>
                  </a:schemeClr>
                </a:solidFill>
              </a:rPr>
              <a:t>الفوج الثالث</a:t>
            </a:r>
            <a:endParaRPr lang="fr-FR" sz="2400" dirty="0">
              <a:solidFill>
                <a:schemeClr val="tx1">
                  <a:lumMod val="50000"/>
                  <a:lumOff val="50000"/>
                </a:schemeClr>
              </a:solidFill>
            </a:endParaRPr>
          </a:p>
        </p:txBody>
      </p:sp>
    </p:spTree>
    <p:extLst>
      <p:ext uri="{BB962C8B-B14F-4D97-AF65-F5344CB8AC3E}">
        <p14:creationId xmlns:p14="http://schemas.microsoft.com/office/powerpoint/2010/main" val="2235539157"/>
      </p:ext>
    </p:extLst>
  </p:cSld>
  <p:clrMapOvr>
    <a:masterClrMapping/>
  </p:clrMapOvr>
  <mc:AlternateContent xmlns:mc="http://schemas.openxmlformats.org/markup-compatibility/2006" xmlns:p14="http://schemas.microsoft.com/office/powerpoint/2010/main">
    <mc:Choice Requires="p14">
      <p:transition spd="slow" p14:dur="2000" advClick="0" advTm="2000">
        <p:circle/>
      </p:transition>
    </mc:Choice>
    <mc:Fallback xmlns="">
      <p:transition spd="slow" advClick="0" advTm="2000">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a:t>
            </a:r>
            <a:endParaRPr lang="fr-FR" dirty="0"/>
          </a:p>
        </p:txBody>
      </p:sp>
      <p:sp>
        <p:nvSpPr>
          <p:cNvPr id="3" name="Espace réservé du contenu 2"/>
          <p:cNvSpPr>
            <a:spLocks noGrp="1"/>
          </p:cNvSpPr>
          <p:nvPr>
            <p:ph idx="1"/>
          </p:nvPr>
        </p:nvSpPr>
        <p:spPr/>
        <p:txBody>
          <a:bodyPr/>
          <a:lstStyle/>
          <a:p>
            <a:pPr marL="0" indent="0">
              <a:buNone/>
            </a:pPr>
            <a:r>
              <a:rPr lang="fr-FR" dirty="0" smtClean="0"/>
              <a:t> </a:t>
            </a:r>
            <a:endParaRPr lang="fr-FR" dirty="0"/>
          </a:p>
        </p:txBody>
      </p:sp>
      <p:sp>
        <p:nvSpPr>
          <p:cNvPr id="4" name="Rectangle à coins arrondis 3"/>
          <p:cNvSpPr/>
          <p:nvPr/>
        </p:nvSpPr>
        <p:spPr>
          <a:xfrm>
            <a:off x="8100392" y="1196752"/>
            <a:ext cx="936104" cy="864096"/>
          </a:xfrm>
          <a:prstGeom prst="roundRect">
            <a:avLst/>
          </a:prstGeom>
          <a:solidFill>
            <a:srgbClr val="00FFCC"/>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2267744" y="44624"/>
            <a:ext cx="936104" cy="792088"/>
          </a:xfrm>
          <a:prstGeom prst="roundRect">
            <a:avLst/>
          </a:prstGeom>
          <a:solidFill>
            <a:srgbClr val="008080"/>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0" y="4365104"/>
            <a:ext cx="971600" cy="1008112"/>
          </a:xfrm>
          <a:prstGeom prst="roundRect">
            <a:avLst/>
          </a:prstGeom>
          <a:solidFill>
            <a:srgbClr val="40DC9D"/>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4355976" y="6245406"/>
            <a:ext cx="936104" cy="928010"/>
          </a:xfrm>
          <a:prstGeom prst="roundRect">
            <a:avLst/>
          </a:prstGeom>
          <a:solidFill>
            <a:srgbClr val="008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647056" y="386662"/>
            <a:ext cx="8029400" cy="6084676"/>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410" y="2282062"/>
            <a:ext cx="2401887" cy="240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7088" y="2330480"/>
            <a:ext cx="267017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ZoneTexte 8"/>
          <p:cNvSpPr txBox="1"/>
          <p:nvPr/>
        </p:nvSpPr>
        <p:spPr>
          <a:xfrm>
            <a:off x="3275856" y="1212357"/>
            <a:ext cx="2749091" cy="523220"/>
          </a:xfrm>
          <a:prstGeom prst="rect">
            <a:avLst/>
          </a:prstGeom>
          <a:noFill/>
        </p:spPr>
        <p:txBody>
          <a:bodyPr wrap="square" rtlCol="0">
            <a:spAutoFit/>
          </a:bodyPr>
          <a:lstStyle/>
          <a:p>
            <a:pPr algn="ctr"/>
            <a:r>
              <a:rPr lang="ar-DZ" sz="2800" dirty="0" smtClean="0">
                <a:solidFill>
                  <a:srgbClr val="FF0000"/>
                </a:solidFill>
              </a:rPr>
              <a:t>الاعضاء</a:t>
            </a:r>
            <a:r>
              <a:rPr lang="ar-DZ" sz="2800" dirty="0">
                <a:solidFill>
                  <a:srgbClr val="FF0000"/>
                </a:solidFill>
              </a:rPr>
              <a:t> </a:t>
            </a:r>
            <a:r>
              <a:rPr lang="ar-DZ" sz="2800" dirty="0" smtClean="0">
                <a:solidFill>
                  <a:srgbClr val="FF0000"/>
                </a:solidFill>
              </a:rPr>
              <a:t>المشاركون:</a:t>
            </a:r>
            <a:endParaRPr lang="fr-FR" sz="2800" dirty="0">
              <a:solidFill>
                <a:srgbClr val="FF0000"/>
              </a:solidFill>
            </a:endParaRPr>
          </a:p>
        </p:txBody>
      </p:sp>
      <p:sp>
        <p:nvSpPr>
          <p:cNvPr id="13" name="ZoneTexte 12"/>
          <p:cNvSpPr txBox="1"/>
          <p:nvPr/>
        </p:nvSpPr>
        <p:spPr>
          <a:xfrm>
            <a:off x="3491880" y="1916832"/>
            <a:ext cx="2415208" cy="2862322"/>
          </a:xfrm>
          <a:prstGeom prst="rect">
            <a:avLst/>
          </a:prstGeom>
          <a:noFill/>
        </p:spPr>
        <p:txBody>
          <a:bodyPr wrap="square" rtlCol="0">
            <a:spAutoFit/>
          </a:bodyPr>
          <a:lstStyle/>
          <a:p>
            <a:pPr marL="400050" lvl="0" indent="-400050" algn="r" rtl="1">
              <a:buFont typeface="Wingdings" pitchFamily="2" charset="2"/>
              <a:buChar char="v"/>
              <a:defRPr/>
            </a:pPr>
            <a:r>
              <a:rPr lang="ar-DZ" sz="2000" kern="0" dirty="0">
                <a:solidFill>
                  <a:sysClr val="windowText" lastClr="000000"/>
                </a:solidFill>
              </a:rPr>
              <a:t>حمايدية سيف الدين</a:t>
            </a:r>
          </a:p>
          <a:p>
            <a:pPr marL="400050" marR="0" lvl="0" indent="-4000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سبع علي</a:t>
            </a:r>
          </a:p>
          <a:p>
            <a:pPr marL="400050" marR="0" lvl="0" indent="-4000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بدة محمد اسامة</a:t>
            </a:r>
          </a:p>
          <a:p>
            <a:pPr marL="400050" marR="0" lvl="0" indent="-4000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صديقي طه ياسين</a:t>
            </a:r>
          </a:p>
          <a:p>
            <a:pPr marL="285750" marR="0" lvl="0" indent="-2857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  ببو محمد امين</a:t>
            </a:r>
          </a:p>
          <a:p>
            <a:pPr marL="285750" marR="0" lvl="0" indent="-2857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  قايدي سعيد</a:t>
            </a:r>
          </a:p>
          <a:p>
            <a:pPr marL="285750" marR="0" lvl="0" indent="-2857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  نورين عبد الرؤوف</a:t>
            </a:r>
          </a:p>
          <a:p>
            <a:pPr marL="400050" marR="0" lvl="0" indent="-4000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روزي هشام</a:t>
            </a:r>
          </a:p>
          <a:p>
            <a:pPr marL="400050" marR="0" lvl="0" indent="-400050" algn="r" defTabSz="914400" rtl="1" eaLnBrk="1" fontAlgn="auto" latinLnBrk="0" hangingPunct="1">
              <a:lnSpc>
                <a:spcPct val="100000"/>
              </a:lnSpc>
              <a:spcBef>
                <a:spcPts val="0"/>
              </a:spcBef>
              <a:spcAft>
                <a:spcPts val="0"/>
              </a:spcAft>
              <a:buClrTx/>
              <a:buSzTx/>
              <a:buFont typeface="Wingdings" pitchFamily="2" charset="2"/>
              <a:buChar char="v"/>
              <a:tabLst/>
              <a:defRPr/>
            </a:pPr>
            <a:r>
              <a:rPr kumimoji="0" lang="ar-DZ" sz="2000" b="0" i="0" u="none" strike="noStrike" kern="0" cap="none" spc="0" normalizeH="0" baseline="0" noProof="0" dirty="0" smtClean="0">
                <a:ln>
                  <a:noFill/>
                </a:ln>
                <a:solidFill>
                  <a:sysClr val="windowText" lastClr="000000"/>
                </a:solidFill>
                <a:effectLst/>
                <a:uLnTx/>
                <a:uFillTx/>
              </a:rPr>
              <a:t>لوصيف ضياء الدين</a:t>
            </a:r>
          </a:p>
        </p:txBody>
      </p:sp>
    </p:spTree>
    <p:extLst>
      <p:ext uri="{BB962C8B-B14F-4D97-AF65-F5344CB8AC3E}">
        <p14:creationId xmlns:p14="http://schemas.microsoft.com/office/powerpoint/2010/main" val="888599718"/>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anim calcmode="lin" valueType="num">
                                      <p:cBhvr>
                                        <p:cTn id="8" dur="2000" fill="hold"/>
                                        <p:tgtEl>
                                          <p:spTgt spid="13"/>
                                        </p:tgtEl>
                                        <p:attrNameLst>
                                          <p:attrName>ppt_x</p:attrName>
                                        </p:attrNameLst>
                                      </p:cBhvr>
                                      <p:tavLst>
                                        <p:tav tm="0">
                                          <p:val>
                                            <p:strVal val="#ppt_x"/>
                                          </p:val>
                                        </p:tav>
                                        <p:tav tm="100000">
                                          <p:val>
                                            <p:strVal val="#ppt_x"/>
                                          </p:val>
                                        </p:tav>
                                      </p:tavLst>
                                    </p:anim>
                                    <p:anim calcmode="lin" valueType="num">
                                      <p:cBhvr>
                                        <p:cTn id="9" dur="2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6084168" y="0"/>
            <a:ext cx="1008112" cy="1052736"/>
          </a:xfrm>
          <a:prstGeom prst="roundRect">
            <a:avLst/>
          </a:prstGeom>
          <a:solidFill>
            <a:srgbClr val="478958"/>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313910" y="1268760"/>
            <a:ext cx="1080120" cy="936104"/>
          </a:xfrm>
          <a:prstGeom prst="roundRect">
            <a:avLst/>
          </a:prstGeom>
          <a:solidFill>
            <a:srgbClr val="00FFCC"/>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311950" y="4797152"/>
            <a:ext cx="1080120" cy="936104"/>
          </a:xfrm>
          <a:prstGeom prst="roundRect">
            <a:avLst/>
          </a:prstGeom>
          <a:solidFill>
            <a:srgbClr val="008080"/>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8253917" y="5777880"/>
            <a:ext cx="1008112" cy="1080120"/>
          </a:xfrm>
          <a:prstGeom prst="roundRect">
            <a:avLst/>
          </a:prstGeom>
          <a:solidFill>
            <a:srgbClr val="40DC9D"/>
          </a:solidFill>
          <a:ln>
            <a:solidFill>
              <a:schemeClr val="bg1"/>
            </a:solidFill>
          </a:ln>
          <a:effectLst>
            <a:outerShdw blurRad="635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à coins arrondis 8"/>
          <p:cNvSpPr/>
          <p:nvPr/>
        </p:nvSpPr>
        <p:spPr>
          <a:xfrm>
            <a:off x="323528" y="238091"/>
            <a:ext cx="8352928" cy="6264696"/>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dirty="0"/>
              <a:t>ملخص شامل حول أجهزة الألياف البصرية و المضاعفات</a:t>
            </a:r>
          </a:p>
        </p:txBody>
      </p:sp>
      <p:sp>
        <p:nvSpPr>
          <p:cNvPr id="8" name="ZoneTexte 7"/>
          <p:cNvSpPr txBox="1"/>
          <p:nvPr/>
        </p:nvSpPr>
        <p:spPr>
          <a:xfrm>
            <a:off x="323528" y="742952"/>
            <a:ext cx="8392694" cy="1015663"/>
          </a:xfrm>
          <a:prstGeom prst="rect">
            <a:avLst/>
          </a:prstGeom>
          <a:noFill/>
        </p:spPr>
        <p:txBody>
          <a:bodyPr wrap="square" rtlCol="0">
            <a:spAutoFit/>
          </a:bodyPr>
          <a:lstStyle/>
          <a:p>
            <a:pPr marL="0" marR="0" lvl="1" indent="0" algn="ctr" defTabSz="914400" eaLnBrk="1" fontAlgn="auto" latinLnBrk="0" hangingPunct="1">
              <a:lnSpc>
                <a:spcPct val="100000"/>
              </a:lnSpc>
              <a:spcBef>
                <a:spcPts val="0"/>
              </a:spcBef>
              <a:spcAft>
                <a:spcPts val="0"/>
              </a:spcAft>
              <a:buClrTx/>
              <a:buSzTx/>
              <a:buFontTx/>
              <a:buNone/>
              <a:tabLst/>
              <a:defRPr/>
            </a:pPr>
            <a:r>
              <a:rPr kumimoji="0" lang="ar-DZ" sz="3200" b="1" i="0" u="none" strike="noStrike" kern="0" cap="none" spc="0" normalizeH="0" baseline="0" noProof="0" dirty="0" smtClean="0">
                <a:ln>
                  <a:noFill/>
                </a:ln>
                <a:solidFill>
                  <a:srgbClr val="FF0000"/>
                </a:solidFill>
                <a:effectLst/>
                <a:uLnTx/>
                <a:uFillTx/>
                <a:latin typeface="Traditional Arabic"/>
                <a:cs typeface="Traditional Arabic"/>
              </a:rPr>
              <a:t>ملخص شامل حول </a:t>
            </a:r>
            <a:r>
              <a:rPr kumimoji="0" lang="ar-DZ" sz="3200" b="1" i="0" u="none" strike="noStrike" kern="0" cap="none" spc="0" normalizeH="0" baseline="0" noProof="0" dirty="0">
                <a:ln>
                  <a:noFill/>
                </a:ln>
                <a:solidFill>
                  <a:srgbClr val="FF0000"/>
                </a:solidFill>
                <a:effectLst/>
                <a:uLnTx/>
                <a:uFillTx/>
                <a:latin typeface="Traditional Arabic"/>
                <a:cs typeface="Traditional Arabic"/>
              </a:rPr>
              <a:t>أجهزة </a:t>
            </a:r>
            <a:r>
              <a:rPr kumimoji="0" lang="ar-DZ" sz="3200" b="1" i="0" u="none" strike="noStrike" kern="0" cap="none" spc="0" normalizeH="0" baseline="0" noProof="0" dirty="0" smtClean="0">
                <a:ln>
                  <a:noFill/>
                </a:ln>
                <a:solidFill>
                  <a:srgbClr val="FF0000"/>
                </a:solidFill>
                <a:effectLst/>
                <a:uLnTx/>
                <a:uFillTx/>
                <a:latin typeface="Traditional Arabic"/>
                <a:cs typeface="Traditional Arabic"/>
              </a:rPr>
              <a:t>الألياف البصرية و المضاعفات:</a:t>
            </a:r>
            <a:endParaRPr kumimoji="0" lang="ar-DZ" sz="3200" b="1" i="0" u="none" strike="noStrike" kern="0" cap="none" spc="0" normalizeH="0" baseline="0" noProof="0" dirty="0">
              <a:ln>
                <a:noFill/>
              </a:ln>
              <a:solidFill>
                <a:srgbClr val="FF0000"/>
              </a:solidFill>
              <a:effectLst/>
              <a:uLnTx/>
              <a:uFillTx/>
              <a:latin typeface="Traditional Arabic"/>
              <a:cs typeface="Traditional Arabic"/>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fr-FR" sz="2800" b="0" i="0" u="none" strike="noStrike" kern="0" cap="none" spc="0" normalizeH="0" baseline="0" noProof="0" dirty="0">
              <a:ln>
                <a:noFill/>
              </a:ln>
              <a:solidFill>
                <a:srgbClr val="FF0000"/>
              </a:solidFill>
              <a:effectLst/>
              <a:uLnTx/>
              <a:uFillTx/>
            </a:endParaRPr>
          </a:p>
        </p:txBody>
      </p:sp>
      <p:sp>
        <p:nvSpPr>
          <p:cNvPr id="10" name="ZoneTexte 9"/>
          <p:cNvSpPr txBox="1"/>
          <p:nvPr/>
        </p:nvSpPr>
        <p:spPr>
          <a:xfrm>
            <a:off x="6444208" y="1681644"/>
            <a:ext cx="1404046" cy="52322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400" b="1" i="0" u="none" strike="noStrike" kern="0" cap="none" spc="0" normalizeH="0" baseline="0" noProof="0" dirty="0" smtClean="0">
                <a:ln>
                  <a:noFill/>
                </a:ln>
                <a:solidFill>
                  <a:prstClr val="black"/>
                </a:solidFill>
                <a:effectLst/>
                <a:uLnTx/>
                <a:uFillTx/>
              </a:rPr>
              <a:t>الفهرس</a:t>
            </a:r>
            <a:r>
              <a:rPr kumimoji="0" lang="ar-DZ" sz="2800" b="1" i="0" u="none" strike="noStrike" kern="0" cap="none" spc="0" normalizeH="0" baseline="0" noProof="0" dirty="0" smtClean="0">
                <a:ln>
                  <a:noFill/>
                </a:ln>
                <a:solidFill>
                  <a:prstClr val="black"/>
                </a:solidFill>
                <a:effectLst/>
                <a:uLnTx/>
                <a:uFillTx/>
              </a:rPr>
              <a:t>:</a:t>
            </a:r>
            <a:endParaRPr kumimoji="0" lang="fr-FR" sz="2800" b="1" i="0" u="none" strike="noStrike" kern="0" cap="none" spc="0" normalizeH="0" baseline="0" noProof="0" dirty="0">
              <a:ln>
                <a:noFill/>
              </a:ln>
              <a:solidFill>
                <a:prstClr val="black"/>
              </a:solidFill>
              <a:effectLst/>
              <a:uLnTx/>
              <a:uFillTx/>
            </a:endParaRPr>
          </a:p>
        </p:txBody>
      </p:sp>
      <p:sp>
        <p:nvSpPr>
          <p:cNvPr id="11" name="ZoneTexte 10"/>
          <p:cNvSpPr txBox="1"/>
          <p:nvPr/>
        </p:nvSpPr>
        <p:spPr>
          <a:xfrm>
            <a:off x="2771800" y="2492896"/>
            <a:ext cx="5184576" cy="3416320"/>
          </a:xfrm>
          <a:prstGeom prst="rect">
            <a:avLst/>
          </a:prstGeom>
          <a:noFill/>
        </p:spPr>
        <p:txBody>
          <a:bodyPr wrap="square" rtlCol="0">
            <a:spAutoFit/>
          </a:bodyPr>
          <a:lstStyle/>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smtClean="0">
                <a:ln>
                  <a:noFill/>
                </a:ln>
                <a:solidFill>
                  <a:sysClr val="windowText" lastClr="000000"/>
                </a:solidFill>
                <a:effectLst/>
                <a:uLnTx/>
                <a:uFillTx/>
              </a:rPr>
              <a:t>مدخل للموضوع</a:t>
            </a:r>
            <a:endParaRPr kumimoji="0" lang="fr-FR" sz="2400" b="0" i="0" u="none" strike="noStrike" kern="0" cap="none" spc="0" normalizeH="0" baseline="0" noProof="0" dirty="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a:ln>
                  <a:noFill/>
                </a:ln>
                <a:solidFill>
                  <a:sysClr val="windowText" lastClr="000000"/>
                </a:solidFill>
                <a:effectLst/>
                <a:uLnTx/>
                <a:uFillTx/>
              </a:rPr>
              <a:t>نبذة تاريخية عن أجهزة الألياف البصرية و المضاعفات</a:t>
            </a:r>
            <a:endParaRPr kumimoji="0" lang="ar-DZ" sz="2400" b="0" i="0" u="none" strike="noStrike" kern="0" cap="none" spc="0" normalizeH="0" baseline="0" noProof="0" dirty="0" smtClean="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smtClean="0">
                <a:ln>
                  <a:noFill/>
                </a:ln>
                <a:solidFill>
                  <a:sysClr val="windowText" lastClr="000000"/>
                </a:solidFill>
                <a:effectLst/>
                <a:uLnTx/>
                <a:uFillTx/>
              </a:rPr>
              <a:t>تعريفها</a:t>
            </a:r>
            <a:endParaRPr kumimoji="0" lang="fr-FR" sz="2400" b="0" i="0" u="none" strike="noStrike" kern="0" cap="none" spc="0" normalizeH="0" baseline="0" noProof="0" dirty="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a:ln>
                  <a:noFill/>
                </a:ln>
                <a:solidFill>
                  <a:sysClr val="windowText" lastClr="000000"/>
                </a:solidFill>
                <a:effectLst/>
                <a:uLnTx/>
                <a:uFillTx/>
              </a:rPr>
              <a:t>أنواعها </a:t>
            </a:r>
            <a:r>
              <a:rPr kumimoji="0" lang="ar-DZ" sz="2400" b="0" i="0" u="none" strike="noStrike" kern="0" cap="none" spc="0" normalizeH="0" baseline="0" noProof="0" dirty="0" smtClean="0">
                <a:ln>
                  <a:noFill/>
                </a:ln>
                <a:solidFill>
                  <a:sysClr val="windowText" lastClr="000000"/>
                </a:solidFill>
                <a:effectLst/>
                <a:uLnTx/>
                <a:uFillTx/>
              </a:rPr>
              <a:t>(</a:t>
            </a:r>
            <a:r>
              <a:rPr kumimoji="0" lang="ar-DZ" sz="2400" b="0" i="0" u="none" strike="noStrike" kern="0" cap="none" spc="0" normalizeH="0" baseline="0" noProof="0" dirty="0">
                <a:ln>
                  <a:noFill/>
                </a:ln>
                <a:solidFill>
                  <a:sysClr val="windowText" lastClr="000000"/>
                </a:solidFill>
                <a:effectLst/>
                <a:uLnTx/>
                <a:uFillTx/>
              </a:rPr>
              <a:t>أجهزة </a:t>
            </a:r>
            <a:r>
              <a:rPr kumimoji="0" lang="ar-DZ" sz="2400" b="0" i="0" u="none" strike="noStrike" kern="0" cap="none" spc="0" normalizeH="0" baseline="0" noProof="0" dirty="0" smtClean="0">
                <a:ln>
                  <a:noFill/>
                </a:ln>
                <a:solidFill>
                  <a:sysClr val="windowText" lastClr="000000"/>
                </a:solidFill>
                <a:effectLst/>
                <a:uLnTx/>
                <a:uFillTx/>
              </a:rPr>
              <a:t>المضاعفات و أجهزة التعدد )</a:t>
            </a:r>
            <a:endParaRPr kumimoji="0" lang="fr-FR" sz="2400" b="0" i="0" u="none" strike="noStrike" kern="0" cap="none" spc="0" normalizeH="0" baseline="0" noProof="0" dirty="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fr-FR" sz="2400" b="0" i="0" u="none" strike="noStrike" kern="0" cap="none" spc="0" normalizeH="0" baseline="0" noProof="0" dirty="0">
                <a:ln>
                  <a:noFill/>
                </a:ln>
                <a:solidFill>
                  <a:sysClr val="windowText" lastClr="000000"/>
                </a:solidFill>
                <a:effectLst/>
                <a:uLnTx/>
                <a:uFillTx/>
              </a:rPr>
              <a:t> </a:t>
            </a:r>
            <a:r>
              <a:rPr kumimoji="0" lang="fr-FR" sz="2400" b="0" i="0" u="none" strike="noStrike" kern="0" cap="none" spc="0" normalizeH="0" baseline="0" noProof="0" dirty="0" smtClean="0">
                <a:ln>
                  <a:noFill/>
                </a:ln>
                <a:solidFill>
                  <a:sysClr val="windowText" lastClr="000000"/>
                </a:solidFill>
                <a:effectLst/>
                <a:uLnTx/>
                <a:uFillTx/>
              </a:rPr>
              <a:t>PDH , SDH , SONET</a:t>
            </a:r>
            <a:endParaRPr kumimoji="0" lang="ar-DZ" sz="2400" b="0" i="0" u="none" strike="noStrike" kern="0" cap="none" spc="0" normalizeH="0" baseline="0" noProof="0" dirty="0" smtClean="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smtClean="0">
                <a:ln>
                  <a:noFill/>
                </a:ln>
                <a:solidFill>
                  <a:sysClr val="windowText" lastClr="000000"/>
                </a:solidFill>
                <a:effectLst/>
                <a:uLnTx/>
                <a:uFillTx/>
              </a:rPr>
              <a:t>استخداماتها</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smtClean="0">
                <a:ln>
                  <a:noFill/>
                </a:ln>
                <a:solidFill>
                  <a:sysClr val="windowText" lastClr="000000"/>
                </a:solidFill>
                <a:effectLst/>
                <a:uLnTx/>
                <a:uFillTx/>
              </a:rPr>
              <a:t>المزايا و العيوب</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ar-DZ" sz="2400" b="0" i="0" u="none" strike="noStrike" kern="0" cap="none" spc="0" normalizeH="0" baseline="0" noProof="0" dirty="0" smtClean="0">
                <a:ln>
                  <a:noFill/>
                </a:ln>
                <a:solidFill>
                  <a:sysClr val="windowText" lastClr="000000"/>
                </a:solidFill>
                <a:effectLst/>
                <a:uLnTx/>
                <a:uFillTx/>
              </a:rPr>
              <a:t>الفرق و التشابه بين </a:t>
            </a:r>
            <a:r>
              <a:rPr kumimoji="0" lang="fr-FR" sz="2400" b="0" i="0" u="none" strike="noStrike" kern="0" cap="none" spc="0" normalizeH="0" baseline="0" noProof="0" dirty="0" smtClean="0">
                <a:ln>
                  <a:noFill/>
                </a:ln>
                <a:solidFill>
                  <a:sysClr val="windowText" lastClr="000000"/>
                </a:solidFill>
                <a:effectLst/>
                <a:uLnTx/>
                <a:uFillTx/>
              </a:rPr>
              <a:t>SONET</a:t>
            </a:r>
            <a:r>
              <a:rPr kumimoji="0" lang="ar-DZ" sz="2400" b="0" i="0" u="none" strike="noStrike" kern="0" cap="none" spc="0" normalizeH="0" baseline="0" noProof="0" dirty="0" smtClean="0">
                <a:ln>
                  <a:noFill/>
                </a:ln>
                <a:solidFill>
                  <a:sysClr val="windowText" lastClr="000000"/>
                </a:solidFill>
                <a:effectLst/>
                <a:uLnTx/>
                <a:uFillTx/>
              </a:rPr>
              <a:t> و</a:t>
            </a:r>
            <a:r>
              <a:rPr kumimoji="0" lang="fr-FR" sz="2400" b="0" i="0" u="none" strike="noStrike" kern="0" cap="none" spc="0" normalizeH="0" baseline="0" noProof="0" dirty="0" smtClean="0">
                <a:ln>
                  <a:noFill/>
                </a:ln>
                <a:solidFill>
                  <a:sysClr val="windowText" lastClr="000000"/>
                </a:solidFill>
                <a:effectLst/>
                <a:uLnTx/>
                <a:uFillTx/>
              </a:rPr>
              <a:t>            SDH </a:t>
            </a:r>
            <a:endParaRPr kumimoji="0" lang="fr-FR" sz="24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901633675"/>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heel(1)">
                                      <p:cBhvr>
                                        <p:cTn id="10" dur="2000"/>
                                        <p:tgtEl>
                                          <p:spTgt spid="10"/>
                                        </p:tgtEl>
                                      </p:cBhvr>
                                    </p:animEffect>
                                  </p:childTnLst>
                                </p:cTn>
                              </p:par>
                              <p:par>
                                <p:cTn id="11" presetID="6" presetClass="entr" presetSubtype="16" fill="hold"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Effect transition="in" filter="circle(in)">
                                      <p:cBhvr>
                                        <p:cTn id="13" dur="2000"/>
                                        <p:tgtEl>
                                          <p:spTgt spid="10">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2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755576" y="-171400"/>
            <a:ext cx="1296144" cy="1080120"/>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5292080" y="-171400"/>
            <a:ext cx="1224136" cy="936104"/>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396552" y="3140968"/>
            <a:ext cx="1008112" cy="1008112"/>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Rectangle à coins arrondis 4"/>
          <p:cNvSpPr/>
          <p:nvPr/>
        </p:nvSpPr>
        <p:spPr>
          <a:xfrm>
            <a:off x="4579513" y="5913276"/>
            <a:ext cx="1224136" cy="1080120"/>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8604448" y="2420888"/>
            <a:ext cx="936104" cy="864096"/>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475057" y="296651"/>
            <a:ext cx="8208912" cy="6156684"/>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8" name="ZoneTexte 7"/>
          <p:cNvSpPr txBox="1"/>
          <p:nvPr/>
        </p:nvSpPr>
        <p:spPr>
          <a:xfrm>
            <a:off x="1567481" y="533871"/>
            <a:ext cx="6192688"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smtClean="0">
                <a:ln>
                  <a:noFill/>
                </a:ln>
                <a:solidFill>
                  <a:srgbClr val="FF0000"/>
                </a:solidFill>
                <a:effectLst/>
                <a:uLnTx/>
                <a:uFillTx/>
              </a:rPr>
              <a:t>مدخل الى الموضوع :</a:t>
            </a:r>
            <a:endParaRPr kumimoji="0" lang="fr-FR" sz="2400" b="1" i="0" u="none" strike="noStrike" kern="0" cap="none" spc="0" normalizeH="0" baseline="0" noProof="0" dirty="0">
              <a:ln>
                <a:noFill/>
              </a:ln>
              <a:solidFill>
                <a:srgbClr val="FF0000"/>
              </a:solidFill>
              <a:effectLst/>
              <a:uLnTx/>
              <a:uFillTx/>
            </a:endParaRPr>
          </a:p>
        </p:txBody>
      </p:sp>
      <p:sp>
        <p:nvSpPr>
          <p:cNvPr id="9" name="Rectangle 8"/>
          <p:cNvSpPr/>
          <p:nvPr/>
        </p:nvSpPr>
        <p:spPr>
          <a:xfrm>
            <a:off x="475057" y="1174391"/>
            <a:ext cx="7992888" cy="440120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أصبحت تقنيات الألياف البصرية من الركائز الأساسية لشبكات الاتصالات الحديثة، لما تتميز به من قدرة عالية على نقل كميات ضخمة من البيانات بسرعات فائقة وبمعدلات فقدان منخفضة جدًا مقارنة بوسائط النقل التقليدية. وتعتمد هذه التقنيات على توجيه الإشارات الضوئية عبر ألياف دقيقة مصنوعة غالبًا من الزجاج النقي، مما يوفّر كفاءة عالية وموثوقية كبيرة في أنظمة الاتصال بعيدة المدى.</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وتتكون منظومات الألياف البصرية من مجموعة من الأجهزة والمكوّنات التي تعمل بشكل متكامل لضمان سلامة الإشارة وجودة نقلها، من أبرزها أجهزة الإرسال والاستقبال الضوئي، المقسمات، المكبرات، وأجهزة المضاعفة. وتُعد تقنيات المضاعفة من العناصر المحورية في شبكات الألياف البصرية، إذ تتيح استغلال السعة المتاحة في الليف الواحد بشكل أمثل من خلال دمج عدة قنوات ضوئية أو إشارات مستقلة ضمن مسار واحد، مما يؤدي إلى زيادة الكفاءة التشغيلية وتقليل البنية التحتية المطلوبة.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ويهدف هذا البحث إلى دراسة أجهزة الألياف البصرية من حيث مبدأ عملها ووظائفها الأساسية، مع التركيز على تقنيات المضاعفة، وأنواعها المختلفة، ودورها في تعزيز أداء شبكات الاتصالات الحديثة وتلبية الطلب المتزايد على خدمات نقل البيانات.</a:t>
            </a:r>
            <a:endParaRPr kumimoji="0" lang="fr-FR" sz="20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668346318"/>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2000"/>
                                        <p:tgtEl>
                                          <p:spTgt spid="9">
                                            <p:txEl>
                                              <p:pRg st="0" end="0"/>
                                            </p:txEl>
                                          </p:spTgt>
                                        </p:tgtEl>
                                      </p:cBhvr>
                                    </p:animEffect>
                                    <p:anim calcmode="lin" valueType="num">
                                      <p:cBhvr>
                                        <p:cTn id="11" dur="2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2" dur="2000" fill="hold"/>
                                        <p:tgtEl>
                                          <p:spTgt spid="9">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2000"/>
                                        <p:tgtEl>
                                          <p:spTgt spid="9">
                                            <p:txEl>
                                              <p:pRg st="1" end="1"/>
                                            </p:txEl>
                                          </p:spTgt>
                                        </p:tgtEl>
                                      </p:cBhvr>
                                    </p:animEffect>
                                    <p:anim calcmode="lin" valueType="num">
                                      <p:cBhvr>
                                        <p:cTn id="16" dur="2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7" dur="2000" fill="hold"/>
                                        <p:tgtEl>
                                          <p:spTgt spid="9">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fade">
                                      <p:cBhvr>
                                        <p:cTn id="20" dur="2000"/>
                                        <p:tgtEl>
                                          <p:spTgt spid="9">
                                            <p:txEl>
                                              <p:pRg st="2" end="2"/>
                                            </p:txEl>
                                          </p:spTgt>
                                        </p:tgtEl>
                                      </p:cBhvr>
                                    </p:animEffect>
                                    <p:anim calcmode="lin" valueType="num">
                                      <p:cBhvr>
                                        <p:cTn id="21" dur="2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2" dur="2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8028384" y="1052736"/>
            <a:ext cx="1115616" cy="1080120"/>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8460432" y="5157192"/>
            <a:ext cx="864096" cy="792088"/>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1547664" y="-387424"/>
            <a:ext cx="936104" cy="864096"/>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396552" y="3140968"/>
            <a:ext cx="936104" cy="1008112"/>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Rectangle à coins arrondis 5"/>
          <p:cNvSpPr/>
          <p:nvPr/>
        </p:nvSpPr>
        <p:spPr>
          <a:xfrm>
            <a:off x="2649452" y="5858762"/>
            <a:ext cx="1080120" cy="1008112"/>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509791" y="453366"/>
            <a:ext cx="8280920" cy="6120680"/>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2483768" y="591071"/>
            <a:ext cx="4536504"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smtClean="0">
                <a:ln>
                  <a:noFill/>
                </a:ln>
                <a:solidFill>
                  <a:srgbClr val="FF0000"/>
                </a:solidFill>
                <a:effectLst/>
                <a:uLnTx/>
                <a:uFillTx/>
              </a:rPr>
              <a:t>نبذة تاريخية :</a:t>
            </a:r>
            <a:endParaRPr kumimoji="0" lang="fr-FR" sz="2400" b="1" i="0" u="none" strike="noStrike" kern="0" cap="none" spc="0" normalizeH="0" baseline="0" noProof="0" dirty="0">
              <a:ln>
                <a:noFill/>
              </a:ln>
              <a:solidFill>
                <a:srgbClr val="FF0000"/>
              </a:solidFill>
              <a:effectLst/>
              <a:uLnTx/>
              <a:uFillTx/>
            </a:endParaRPr>
          </a:p>
        </p:txBody>
      </p:sp>
      <p:sp>
        <p:nvSpPr>
          <p:cNvPr id="9" name="Rectangle 8"/>
          <p:cNvSpPr/>
          <p:nvPr/>
        </p:nvSpPr>
        <p:spPr>
          <a:xfrm>
            <a:off x="899592" y="1080027"/>
            <a:ext cx="7794612" cy="1862048"/>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fr-FR" sz="2300" b="0" i="0" u="none" strike="noStrike" kern="0" cap="none" spc="0" normalizeH="0" baseline="0" noProof="0" dirty="0">
                <a:ln>
                  <a:noFill/>
                </a:ln>
                <a:solidFill>
                  <a:sysClr val="windowText" lastClr="000000"/>
                </a:solidFill>
                <a:effectLst/>
                <a:uLnTx/>
                <a:uFillTx/>
              </a:rPr>
              <a:t> </a:t>
            </a:r>
            <a:r>
              <a:rPr kumimoji="0" lang="fr-FR" sz="2300" b="0" i="0" u="none" strike="noStrike" kern="0" cap="none" spc="0" normalizeH="0" baseline="0" noProof="0" dirty="0" smtClean="0">
                <a:ln>
                  <a:noFill/>
                </a:ln>
                <a:solidFill>
                  <a:sysClr val="windowText" lastClr="000000"/>
                </a:solidFill>
                <a:effectLst/>
                <a:uLnTx/>
                <a:uFillTx/>
              </a:rPr>
              <a:t>  </a:t>
            </a:r>
            <a:r>
              <a:rPr kumimoji="0" lang="ar-DZ" sz="2300" b="0" i="0" u="none" strike="noStrike" kern="0" cap="none" spc="0" normalizeH="0" baseline="0" noProof="0" dirty="0" smtClean="0">
                <a:ln>
                  <a:noFill/>
                </a:ln>
                <a:solidFill>
                  <a:sysClr val="windowText" lastClr="000000"/>
                </a:solidFill>
                <a:effectLst/>
                <a:uLnTx/>
                <a:uFillTx/>
              </a:rPr>
              <a:t>في </a:t>
            </a:r>
            <a:r>
              <a:rPr kumimoji="0" lang="ar-DZ" sz="2300" b="0" i="0" u="none" strike="noStrike" kern="0" cap="none" spc="0" normalizeH="0" baseline="0" noProof="0" dirty="0">
                <a:ln>
                  <a:noFill/>
                </a:ln>
                <a:solidFill>
                  <a:sysClr val="windowText" lastClr="000000"/>
                </a:solidFill>
                <a:effectLst/>
                <a:uLnTx/>
                <a:uFillTx/>
              </a:rPr>
              <a:t>البداية استُخدمت تقنيات المضاعفة الزمنية، ثم تطورت لاحقًا تقنيات المضاعفة بالتقسيم الطيفي، التي تعتمد على إرسال عدة إشارات ضوئية بأطوال موجية مختلفة عبر ليف واحد. وقد شهدت هذه التقنيات تطورًا ملحوظًا في أواخر القرن العشرين مع ظهور المضاعفة الكثيفة، التي أسهمت في تحقيق قفزات كبيرة في سعات النقل وسرعاته.</a:t>
            </a:r>
            <a:endParaRPr kumimoji="0" lang="fr-FR" sz="2300" b="0" i="0" u="none" strike="noStrike" kern="0" cap="none" spc="0" normalizeH="0" baseline="0" noProof="0" dirty="0">
              <a:ln>
                <a:noFill/>
              </a:ln>
              <a:solidFill>
                <a:sysClr val="windowText" lastClr="000000"/>
              </a:solidFill>
              <a:effectLst/>
              <a:uLnTx/>
              <a:uFillTx/>
            </a:endParaRPr>
          </a:p>
        </p:txBody>
      </p:sp>
      <p:sp>
        <p:nvSpPr>
          <p:cNvPr id="10" name="ZoneTexte 9"/>
          <p:cNvSpPr txBox="1"/>
          <p:nvPr/>
        </p:nvSpPr>
        <p:spPr>
          <a:xfrm>
            <a:off x="899592" y="2996952"/>
            <a:ext cx="7794612"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400" b="0" i="0" u="none" strike="noStrike" kern="0" cap="none" spc="0" normalizeH="0" baseline="0" noProof="0" dirty="0" smtClean="0">
                <a:ln>
                  <a:noFill/>
                </a:ln>
                <a:solidFill>
                  <a:sysClr val="windowText" lastClr="000000"/>
                </a:solidFill>
                <a:effectLst/>
                <a:uLnTx/>
                <a:uFillTx/>
              </a:rPr>
              <a:t>   في ستينيات القرن الماضي، شكّلت الأبحاث التي تناولت إمكانية توجيه الضوء داخل ألياف </a:t>
            </a:r>
            <a:r>
              <a:rPr kumimoji="0" lang="ar-DZ" sz="2000" b="0" i="0" u="none" strike="noStrike" kern="0" cap="none" spc="0" normalizeH="0" baseline="0" noProof="0" dirty="0" smtClean="0">
                <a:ln>
                  <a:noFill/>
                </a:ln>
                <a:solidFill>
                  <a:sysClr val="windowText" lastClr="000000"/>
                </a:solidFill>
                <a:effectLst/>
                <a:uLnTx/>
                <a:uFillTx/>
              </a:rPr>
              <a:t>زجاجية</a:t>
            </a:r>
            <a:r>
              <a:rPr kumimoji="0" lang="ar-DZ" sz="2400" b="0" i="0" u="none" strike="noStrike" kern="0" cap="none" spc="0" normalizeH="0" baseline="0" noProof="0" dirty="0" smtClean="0">
                <a:ln>
                  <a:noFill/>
                </a:ln>
                <a:solidFill>
                  <a:sysClr val="windowText" lastClr="000000"/>
                </a:solidFill>
                <a:effectLst/>
                <a:uLnTx/>
                <a:uFillTx/>
              </a:rPr>
              <a:t> نقطة تحول مهمة خاصة بعد نجاح</a:t>
            </a:r>
            <a:endParaRPr kumimoji="0" lang="fr-FR" sz="1800" b="0" i="0" u="none" strike="noStrike" kern="0" cap="none" spc="0" normalizeH="0" baseline="0" noProof="0" dirty="0">
              <a:ln>
                <a:noFill/>
              </a:ln>
              <a:solidFill>
                <a:sysClr val="windowText" lastClr="000000"/>
              </a:solidFill>
              <a:effectLst/>
              <a:uLnTx/>
              <a:uFillTx/>
            </a:endParaRPr>
          </a:p>
        </p:txBody>
      </p:sp>
      <p:sp>
        <p:nvSpPr>
          <p:cNvPr id="11" name="Rectangle 10"/>
          <p:cNvSpPr/>
          <p:nvPr/>
        </p:nvSpPr>
        <p:spPr>
          <a:xfrm>
            <a:off x="854714" y="4012534"/>
            <a:ext cx="7794612" cy="115416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300" b="0" i="0" u="none" strike="noStrike" kern="0" cap="none" spc="0" normalizeH="0" baseline="0" noProof="0" dirty="0" smtClean="0">
                <a:ln>
                  <a:noFill/>
                </a:ln>
                <a:solidFill>
                  <a:sysClr val="windowText" lastClr="000000"/>
                </a:solidFill>
                <a:effectLst/>
                <a:uLnTx/>
                <a:uFillTx/>
              </a:rPr>
              <a:t>العلماء </a:t>
            </a:r>
            <a:r>
              <a:rPr kumimoji="0" lang="ar-DZ" sz="2300" b="0" i="0" u="none" strike="noStrike" kern="0" cap="none" spc="0" normalizeH="0" baseline="0" noProof="0" dirty="0">
                <a:ln>
                  <a:noFill/>
                </a:ln>
                <a:solidFill>
                  <a:sysClr val="windowText" lastClr="000000"/>
                </a:solidFill>
                <a:effectLst/>
                <a:uLnTx/>
                <a:uFillTx/>
              </a:rPr>
              <a:t>في تقليل نسبة </a:t>
            </a:r>
            <a:r>
              <a:rPr kumimoji="0" lang="ar-DZ" sz="2000" b="0" i="0" u="none" strike="noStrike" kern="0" cap="none" spc="0" normalizeH="0" baseline="0" noProof="0" dirty="0">
                <a:ln>
                  <a:noFill/>
                </a:ln>
                <a:solidFill>
                  <a:sysClr val="windowText" lastClr="000000"/>
                </a:solidFill>
                <a:effectLst/>
                <a:uLnTx/>
                <a:uFillTx/>
              </a:rPr>
              <a:t>الفقد</a:t>
            </a:r>
            <a:r>
              <a:rPr kumimoji="0" lang="ar-DZ" sz="2300" b="0" i="0" u="none" strike="noStrike" kern="0" cap="none" spc="0" normalizeH="0" baseline="0" noProof="0" dirty="0">
                <a:ln>
                  <a:noFill/>
                </a:ln>
                <a:solidFill>
                  <a:sysClr val="windowText" lastClr="000000"/>
                </a:solidFill>
                <a:effectLst/>
                <a:uLnTx/>
                <a:uFillTx/>
              </a:rPr>
              <a:t> في الإشارة الضوئية داخل الألياف. وفي عام 1970 تم تصنيع أول ليف بصري عملي منخفض الفقد، الأمر الذي مهّد الطريق لاستخدام الألياف البصرية في أنظمة الاتصالات التجارية..</a:t>
            </a:r>
            <a:endParaRPr kumimoji="0" lang="fr-FR" sz="23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376868358"/>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2000"/>
                                        <p:tgtEl>
                                          <p:spTgt spid="9">
                                            <p:txEl>
                                              <p:pRg st="0" end="0"/>
                                            </p:txEl>
                                          </p:spTgt>
                                        </p:tgtEl>
                                      </p:cBhvr>
                                    </p:animEffect>
                                    <p:anim calcmode="lin" valueType="num">
                                      <p:cBhvr>
                                        <p:cTn id="11" dur="2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2" dur="2000" fill="hold"/>
                                        <p:tgtEl>
                                          <p:spTgt spid="9">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2000"/>
                                        <p:tgtEl>
                                          <p:spTgt spid="10">
                                            <p:txEl>
                                              <p:pRg st="0" end="0"/>
                                            </p:txEl>
                                          </p:spTgt>
                                        </p:tgtEl>
                                      </p:cBhvr>
                                    </p:animEffect>
                                    <p:anim calcmode="lin" valueType="num">
                                      <p:cBhvr>
                                        <p:cTn id="16" dur="2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7" dur="2000" fill="hold"/>
                                        <p:tgtEl>
                                          <p:spTgt spid="10">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2000"/>
                                        <p:tgtEl>
                                          <p:spTgt spid="11">
                                            <p:txEl>
                                              <p:pRg st="0" end="0"/>
                                            </p:txEl>
                                          </p:spTgt>
                                        </p:tgtEl>
                                      </p:cBhvr>
                                    </p:animEffect>
                                    <p:anim calcmode="lin" valueType="num">
                                      <p:cBhvr>
                                        <p:cTn id="21" dur="2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2" dur="2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1403648" y="6381328"/>
            <a:ext cx="1008112" cy="864096"/>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6373398" y="6308939"/>
            <a:ext cx="1224136" cy="936104"/>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8658236" y="1700808"/>
            <a:ext cx="1080120" cy="1152128"/>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396552" y="1052736"/>
            <a:ext cx="1008112" cy="1008112"/>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3203848" y="-243408"/>
            <a:ext cx="1008112" cy="864096"/>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422231" y="399696"/>
            <a:ext cx="8352928" cy="6120680"/>
          </a:xfrm>
          <a:prstGeom prst="roundRect">
            <a:avLst/>
          </a:prstGeom>
          <a:solidFill>
            <a:schemeClr val="bg1"/>
          </a:solidFill>
          <a:ln>
            <a:solidFill>
              <a:schemeClr val="tx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2577223" y="591071"/>
            <a:ext cx="4320480"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smtClean="0">
                <a:ln>
                  <a:noFill/>
                </a:ln>
                <a:solidFill>
                  <a:srgbClr val="FF0000"/>
                </a:solidFill>
                <a:effectLst/>
                <a:uLnTx/>
                <a:uFillTx/>
              </a:rPr>
              <a:t>تعريف الالياف البصرية و انواعها :</a:t>
            </a:r>
            <a:endParaRPr kumimoji="0" lang="fr-FR" sz="2400" b="1" i="0" u="none" strike="noStrike" kern="0" cap="none" spc="0" normalizeH="0" baseline="0" noProof="0" dirty="0">
              <a:ln>
                <a:noFill/>
              </a:ln>
              <a:solidFill>
                <a:srgbClr val="FF0000"/>
              </a:solidFill>
              <a:effectLst/>
              <a:uLnTx/>
              <a:uFillTx/>
            </a:endParaRPr>
          </a:p>
        </p:txBody>
      </p:sp>
      <p:sp>
        <p:nvSpPr>
          <p:cNvPr id="9" name="Rectangle 8"/>
          <p:cNvSpPr/>
          <p:nvPr/>
        </p:nvSpPr>
        <p:spPr>
          <a:xfrm>
            <a:off x="755576" y="1125488"/>
            <a:ext cx="7899024"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الألياف البصرية هي وسائط نقل دقيقة ومرنة تُصنع غالبًا من الزجاج أو البلاستيك، وتُستخدم لنقل الإشارات الضوئية لمسافات طويلة اعتمادًا على مبدأ الانعكاس الكلي الداخلي، وتتميّز بقدرتها العالية على نقل البيانات بسرعات مرتفعة وبمعدلات فقد وتشويش منخفضة.</a:t>
            </a:r>
          </a:p>
          <a:p>
            <a:pPr marL="800100" marR="0" lvl="1"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000" b="1" i="0" u="none" strike="noStrike" kern="0" cap="none" spc="0" normalizeH="0" baseline="0" noProof="0" dirty="0">
                <a:ln>
                  <a:noFill/>
                </a:ln>
                <a:solidFill>
                  <a:sysClr val="windowText" lastClr="000000"/>
                </a:solidFill>
                <a:effectLst/>
                <a:uLnTx/>
                <a:uFillTx/>
              </a:rPr>
              <a:t>أنواع الألياف </a:t>
            </a:r>
            <a:r>
              <a:rPr kumimoji="0" lang="ar-DZ" sz="2000" b="1" i="0" u="none" strike="noStrike" kern="0" cap="none" spc="0" normalizeH="0" baseline="0" noProof="0" dirty="0" smtClean="0">
                <a:ln>
                  <a:noFill/>
                </a:ln>
                <a:solidFill>
                  <a:sysClr val="windowText" lastClr="000000"/>
                </a:solidFill>
                <a:effectLst/>
                <a:uLnTx/>
                <a:uFillTx/>
              </a:rPr>
              <a:t>البصرية :</a:t>
            </a:r>
            <a:r>
              <a:rPr kumimoji="0" lang="fr-FR" sz="2000" b="1" i="0" u="none" strike="noStrike" kern="0" cap="none" spc="0" normalizeH="0" baseline="0" noProof="0" dirty="0" smtClean="0">
                <a:ln>
                  <a:noFill/>
                </a:ln>
                <a:solidFill>
                  <a:sysClr val="windowText" lastClr="000000"/>
                </a:solidFill>
                <a:effectLst/>
                <a:uLnTx/>
                <a:uFillTx/>
              </a:rPr>
              <a:t>                    </a:t>
            </a:r>
            <a:endParaRPr kumimoji="0" lang="ar-DZ" sz="2000" b="1" i="0" u="none" strike="noStrike" kern="0" cap="none" spc="0" normalizeH="0" baseline="0" noProof="0" dirty="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ar-DZ" sz="2000" b="1" i="0" u="sng" strike="noStrike" kern="0" cap="none" spc="0" normalizeH="0" baseline="0" noProof="0" dirty="0">
                <a:ln>
                  <a:noFill/>
                </a:ln>
                <a:solidFill>
                  <a:sysClr val="windowText" lastClr="000000"/>
                </a:solidFill>
                <a:effectLst/>
                <a:uLnTx/>
                <a:uFillTx/>
              </a:rPr>
              <a:t>أولًا: حسب الهيكل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الألياف أحادية النمط </a:t>
            </a:r>
            <a:r>
              <a:rPr kumimoji="0" lang="fr-FR" sz="2000" b="0" i="0" u="none" strike="noStrike" kern="0" cap="none" spc="0" normalizeH="0" baseline="0" noProof="0" dirty="0" smtClean="0">
                <a:ln>
                  <a:noFill/>
                </a:ln>
                <a:solidFill>
                  <a:sysClr val="windowText" lastClr="000000"/>
                </a:solidFill>
                <a:effectLst/>
                <a:uLnTx/>
                <a:uFillTx/>
              </a:rPr>
              <a:t>Single </a:t>
            </a:r>
            <a:r>
              <a:rPr kumimoji="0" lang="fr-FR" sz="2000" b="0" i="0" u="none" strike="noStrike" kern="0" cap="none" spc="0" normalizeH="0" baseline="0" noProof="0" dirty="0">
                <a:ln>
                  <a:noFill/>
                </a:ln>
                <a:solidFill>
                  <a:sysClr val="windowText" lastClr="000000"/>
                </a:solidFill>
                <a:effectLst/>
                <a:uLnTx/>
                <a:uFillTx/>
              </a:rPr>
              <a:t>Mode Fiber</a:t>
            </a:r>
            <a:r>
              <a:rPr kumimoji="0" lang="fr-FR" sz="2000" b="0" i="0" u="none" strike="noStrike" kern="0" cap="none" spc="0" normalizeH="0" baseline="0" noProof="0" dirty="0" smtClean="0">
                <a:ln>
                  <a:noFill/>
                </a:ln>
                <a:solidFill>
                  <a:sysClr val="windowText" lastClr="000000"/>
                </a:solidFill>
                <a:effectLst/>
                <a:uLnTx/>
                <a:uFillTx/>
              </a:rPr>
              <a:t>)</a:t>
            </a:r>
            <a:r>
              <a:rPr kumimoji="0" lang="ar-DZ" sz="2000" b="0" i="0" u="none" strike="noStrike" kern="0" cap="none" spc="0" normalizeH="0" baseline="0" noProof="0" dirty="0" smtClean="0">
                <a:ln>
                  <a:noFill/>
                </a:ln>
                <a:solidFill>
                  <a:sysClr val="windowText" lastClr="000000"/>
                </a:solidFill>
                <a:effectLst/>
                <a:uLnTx/>
                <a:uFillTx/>
              </a:rPr>
              <a:t>)</a:t>
            </a:r>
            <a:endParaRPr kumimoji="0" lang="fr-FR" sz="2000" b="0"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الألياف متعددة </a:t>
            </a:r>
            <a:r>
              <a:rPr kumimoji="0" lang="ar-DZ" sz="2000" b="0" i="0" u="none" strike="noStrike" kern="0" cap="none" spc="0" normalizeH="0" baseline="0" noProof="0" dirty="0" smtClean="0">
                <a:ln>
                  <a:noFill/>
                </a:ln>
                <a:solidFill>
                  <a:sysClr val="windowText" lastClr="000000"/>
                </a:solidFill>
                <a:effectLst/>
                <a:uLnTx/>
                <a:uFillTx/>
              </a:rPr>
              <a:t>الأنماط </a:t>
            </a:r>
            <a:r>
              <a:rPr kumimoji="0" lang="fr-FR" sz="2000" b="0" i="0" u="none" strike="noStrike" kern="0" cap="none" spc="0" normalizeH="0" baseline="0" noProof="0" dirty="0" smtClean="0">
                <a:ln>
                  <a:noFill/>
                </a:ln>
                <a:solidFill>
                  <a:sysClr val="windowText" lastClr="000000"/>
                </a:solidFill>
                <a:effectLst/>
                <a:uLnTx/>
                <a:uFillTx/>
              </a:rPr>
              <a:t>Multi </a:t>
            </a:r>
            <a:r>
              <a:rPr kumimoji="0" lang="fr-FR" sz="2000" b="0" i="0" u="none" strike="noStrike" kern="0" cap="none" spc="0" normalizeH="0" baseline="0" noProof="0" dirty="0">
                <a:ln>
                  <a:noFill/>
                </a:ln>
                <a:solidFill>
                  <a:sysClr val="windowText" lastClr="000000"/>
                </a:solidFill>
                <a:effectLst/>
                <a:uLnTx/>
                <a:uFillTx/>
              </a:rPr>
              <a:t>Mode Fiber</a:t>
            </a:r>
            <a:r>
              <a:rPr kumimoji="0" lang="fr-FR" sz="2000" b="0" i="0" u="none" strike="noStrike" kern="0" cap="none" spc="0" normalizeH="0" baseline="0" noProof="0" dirty="0" smtClean="0">
                <a:ln>
                  <a:noFill/>
                </a:ln>
                <a:solidFill>
                  <a:sysClr val="windowText" lastClr="000000"/>
                </a:solidFill>
                <a:effectLst/>
                <a:uLnTx/>
                <a:uFillTx/>
              </a:rPr>
              <a:t>)</a:t>
            </a:r>
            <a:r>
              <a:rPr kumimoji="0" lang="ar-DZ" sz="2000" b="0" i="0" u="none" strike="noStrike" kern="0" cap="none" spc="0" normalizeH="0" baseline="0" noProof="0" dirty="0" smtClean="0">
                <a:ln>
                  <a:noFill/>
                </a:ln>
                <a:solidFill>
                  <a:sysClr val="windowText" lastClr="000000"/>
                </a:solidFill>
                <a:effectLst/>
                <a:uLnTx/>
                <a:uFillTx/>
              </a:rPr>
              <a:t>)</a:t>
            </a:r>
            <a:endParaRPr kumimoji="0" lang="fr-FR" sz="2000" b="0" i="0" u="none" strike="noStrike" kern="0" cap="none" spc="0" normalizeH="0" baseline="0" noProof="0" dirty="0">
              <a:ln>
                <a:noFill/>
              </a:ln>
              <a:solidFill>
                <a:sysClr val="windowText" lastClr="000000"/>
              </a:solidFill>
              <a:effectLst/>
              <a:uLnTx/>
              <a:uFillTx/>
            </a:endParaRP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ar-DZ" sz="2000" b="1" i="0" u="sng" strike="noStrike" kern="0" cap="none" spc="0" normalizeH="0" baseline="0" noProof="0" dirty="0">
                <a:ln>
                  <a:noFill/>
                </a:ln>
                <a:solidFill>
                  <a:sysClr val="windowText" lastClr="000000"/>
                </a:solidFill>
                <a:effectLst/>
                <a:uLnTx/>
                <a:uFillTx/>
              </a:rPr>
              <a:t>ثانيًا: حسب طريقة النقل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ألياف النقل المتدرج </a:t>
            </a:r>
            <a:r>
              <a:rPr kumimoji="0" lang="fr-FR" sz="2000" b="0" i="0" u="none" strike="noStrike" kern="0" cap="none" spc="0" normalizeH="0" baseline="0" noProof="0" dirty="0" smtClean="0">
                <a:ln>
                  <a:noFill/>
                </a:ln>
                <a:solidFill>
                  <a:sysClr val="windowText" lastClr="000000"/>
                </a:solidFill>
                <a:effectLst/>
                <a:uLnTx/>
                <a:uFillTx/>
              </a:rPr>
              <a:t>Graded </a:t>
            </a:r>
            <a:r>
              <a:rPr kumimoji="0" lang="fr-FR" sz="2000" b="0" i="0" u="none" strike="noStrike" kern="0" cap="none" spc="0" normalizeH="0" baseline="0" noProof="0" dirty="0">
                <a:ln>
                  <a:noFill/>
                </a:ln>
                <a:solidFill>
                  <a:sysClr val="windowText" lastClr="000000"/>
                </a:solidFill>
                <a:effectLst/>
                <a:uLnTx/>
                <a:uFillTx/>
              </a:rPr>
              <a:t>Index Fiber</a:t>
            </a:r>
            <a:r>
              <a:rPr kumimoji="0" lang="fr-FR" sz="2000" b="0" i="0" u="none" strike="noStrike" kern="0" cap="none" spc="0" normalizeH="0" baseline="0" noProof="0" dirty="0" smtClean="0">
                <a:ln>
                  <a:noFill/>
                </a:ln>
                <a:solidFill>
                  <a:sysClr val="windowText" lastClr="000000"/>
                </a:solidFill>
                <a:effectLst/>
                <a:uLnTx/>
                <a:uFillTx/>
              </a:rPr>
              <a:t>)</a:t>
            </a:r>
            <a:r>
              <a:rPr kumimoji="0" lang="ar-DZ" sz="2000" b="0" i="0" u="none" strike="noStrike" kern="0" cap="none" spc="0" normalizeH="0" baseline="0" noProof="0" dirty="0" smtClean="0">
                <a:ln>
                  <a:noFill/>
                </a:ln>
                <a:solidFill>
                  <a:sysClr val="windowText" lastClr="000000"/>
                </a:solidFill>
                <a:effectLst/>
                <a:uLnTx/>
                <a:uFillTx/>
              </a:rPr>
              <a:t>)</a:t>
            </a:r>
            <a:endParaRPr kumimoji="0" lang="fr-FR" sz="2000" b="0"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ألياف النقل المفاجئ </a:t>
            </a:r>
            <a:r>
              <a:rPr kumimoji="0" lang="fr-FR" sz="2000" b="0" i="0" u="none" strike="noStrike" kern="0" cap="none" spc="0" normalizeH="0" baseline="0" noProof="0" dirty="0" smtClean="0">
                <a:ln>
                  <a:noFill/>
                </a:ln>
                <a:solidFill>
                  <a:sysClr val="windowText" lastClr="000000"/>
                </a:solidFill>
                <a:effectLst/>
                <a:uLnTx/>
                <a:uFillTx/>
              </a:rPr>
              <a:t>Step </a:t>
            </a:r>
            <a:r>
              <a:rPr kumimoji="0" lang="fr-FR" sz="2000" b="0" i="0" u="none" strike="noStrike" kern="0" cap="none" spc="0" normalizeH="0" baseline="0" noProof="0" dirty="0">
                <a:ln>
                  <a:noFill/>
                </a:ln>
                <a:solidFill>
                  <a:sysClr val="windowText" lastClr="000000"/>
                </a:solidFill>
                <a:effectLst/>
                <a:uLnTx/>
                <a:uFillTx/>
              </a:rPr>
              <a:t>Index Fiber</a:t>
            </a:r>
            <a:r>
              <a:rPr kumimoji="0" lang="fr-FR" sz="2000" b="0" i="0" u="none" strike="noStrike" kern="0" cap="none" spc="0" normalizeH="0" baseline="0" noProof="0" dirty="0" smtClean="0">
                <a:ln>
                  <a:noFill/>
                </a:ln>
                <a:solidFill>
                  <a:sysClr val="windowText" lastClr="000000"/>
                </a:solidFill>
                <a:effectLst/>
                <a:uLnTx/>
                <a:uFillTx/>
              </a:rPr>
              <a:t>).</a:t>
            </a:r>
            <a:r>
              <a:rPr kumimoji="0" lang="ar-DZ" sz="2300" b="0" i="0" u="none" strike="noStrike" kern="0" cap="none" spc="0" normalizeH="0" baseline="0" noProof="0" dirty="0" smtClean="0">
                <a:ln>
                  <a:noFill/>
                </a:ln>
                <a:solidFill>
                  <a:sysClr val="windowText" lastClr="000000"/>
                </a:solidFill>
                <a:effectLst/>
                <a:uLnTx/>
                <a:uFillTx/>
              </a:rPr>
              <a:t>)</a:t>
            </a:r>
            <a:endParaRPr kumimoji="0" lang="fr-FR" sz="2300" b="0" i="0" u="none" strike="noStrike" kern="0" cap="none" spc="0" normalizeH="0" baseline="0" noProof="0" dirty="0">
              <a:ln>
                <a:noFill/>
              </a:ln>
              <a:solidFill>
                <a:sysClr val="windowText" lastClr="000000"/>
              </a:solidFill>
              <a:effectLst/>
              <a:uLnTx/>
              <a:uFillTx/>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3" y="2492896"/>
            <a:ext cx="3888432" cy="2592288"/>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2815921"/>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anim calcmode="lin" valueType="num">
                                      <p:cBhvr>
                                        <p:cTn id="8" dur="2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200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arn(inVertical)">
                                      <p:cBhvr>
                                        <p:cTn id="12" dur="500"/>
                                        <p:tgtEl>
                                          <p:spTgt spid="9">
                                            <p:txEl>
                                              <p:pRg st="1" end="1"/>
                                            </p:txEl>
                                          </p:spTgt>
                                        </p:tgtEl>
                                      </p:cBhvr>
                                    </p:animEffect>
                                  </p:childTnLst>
                                </p:cTn>
                              </p:par>
                              <p:par>
                                <p:cTn id="13" presetID="42" presetClass="entr" presetSubtype="0" fill="hold" nodeType="withEffect">
                                  <p:stCondLst>
                                    <p:cond delay="200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2000"/>
                                        <p:tgtEl>
                                          <p:spTgt spid="9">
                                            <p:txEl>
                                              <p:pRg st="2" end="2"/>
                                            </p:txEl>
                                          </p:spTgt>
                                        </p:tgtEl>
                                      </p:cBhvr>
                                    </p:animEffect>
                                    <p:anim calcmode="lin" valueType="num">
                                      <p:cBhvr>
                                        <p:cTn id="16" dur="2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7" dur="2000" fill="hold"/>
                                        <p:tgtEl>
                                          <p:spTgt spid="9">
                                            <p:txEl>
                                              <p:pRg st="2" end="2"/>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200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fade">
                                      <p:cBhvr>
                                        <p:cTn id="20" dur="2000"/>
                                        <p:tgtEl>
                                          <p:spTgt spid="9">
                                            <p:txEl>
                                              <p:pRg st="3" end="3"/>
                                            </p:txEl>
                                          </p:spTgt>
                                        </p:tgtEl>
                                      </p:cBhvr>
                                    </p:animEffect>
                                    <p:anim calcmode="lin" valueType="num">
                                      <p:cBhvr>
                                        <p:cTn id="21" dur="2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2" dur="2000" fill="hold"/>
                                        <p:tgtEl>
                                          <p:spTgt spid="9">
                                            <p:txEl>
                                              <p:pRg st="3" end="3"/>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2000"/>
                                  </p:stCondLst>
                                  <p:childTnLst>
                                    <p:set>
                                      <p:cBhvr>
                                        <p:cTn id="24" dur="1" fill="hold">
                                          <p:stCondLst>
                                            <p:cond delay="0"/>
                                          </p:stCondLst>
                                        </p:cTn>
                                        <p:tgtEl>
                                          <p:spTgt spid="9">
                                            <p:txEl>
                                              <p:pRg st="4" end="4"/>
                                            </p:txEl>
                                          </p:spTgt>
                                        </p:tgtEl>
                                        <p:attrNameLst>
                                          <p:attrName>style.visibility</p:attrName>
                                        </p:attrNameLst>
                                      </p:cBhvr>
                                      <p:to>
                                        <p:strVal val="visible"/>
                                      </p:to>
                                    </p:set>
                                    <p:animEffect transition="in" filter="fade">
                                      <p:cBhvr>
                                        <p:cTn id="25" dur="2000"/>
                                        <p:tgtEl>
                                          <p:spTgt spid="9">
                                            <p:txEl>
                                              <p:pRg st="4" end="4"/>
                                            </p:txEl>
                                          </p:spTgt>
                                        </p:tgtEl>
                                      </p:cBhvr>
                                    </p:animEffect>
                                    <p:anim calcmode="lin" valueType="num">
                                      <p:cBhvr>
                                        <p:cTn id="26" dur="2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7" dur="2000" fill="hold"/>
                                        <p:tgtEl>
                                          <p:spTgt spid="9">
                                            <p:txEl>
                                              <p:pRg st="4" end="4"/>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200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fade">
                                      <p:cBhvr>
                                        <p:cTn id="30" dur="2000"/>
                                        <p:tgtEl>
                                          <p:spTgt spid="9">
                                            <p:txEl>
                                              <p:pRg st="5" end="5"/>
                                            </p:txEl>
                                          </p:spTgt>
                                        </p:tgtEl>
                                      </p:cBhvr>
                                    </p:animEffect>
                                    <p:anim calcmode="lin" valueType="num">
                                      <p:cBhvr>
                                        <p:cTn id="31" dur="2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2" dur="2000" fill="hold"/>
                                        <p:tgtEl>
                                          <p:spTgt spid="9">
                                            <p:txEl>
                                              <p:pRg st="5" end="5"/>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2000"/>
                                  </p:stCondLst>
                                  <p:childTnLst>
                                    <p:set>
                                      <p:cBhvr>
                                        <p:cTn id="34" dur="1" fill="hold">
                                          <p:stCondLst>
                                            <p:cond delay="0"/>
                                          </p:stCondLst>
                                        </p:cTn>
                                        <p:tgtEl>
                                          <p:spTgt spid="9">
                                            <p:txEl>
                                              <p:pRg st="6" end="6"/>
                                            </p:txEl>
                                          </p:spTgt>
                                        </p:tgtEl>
                                        <p:attrNameLst>
                                          <p:attrName>style.visibility</p:attrName>
                                        </p:attrNameLst>
                                      </p:cBhvr>
                                      <p:to>
                                        <p:strVal val="visible"/>
                                      </p:to>
                                    </p:set>
                                    <p:animEffect transition="in" filter="fade">
                                      <p:cBhvr>
                                        <p:cTn id="35" dur="2000"/>
                                        <p:tgtEl>
                                          <p:spTgt spid="9">
                                            <p:txEl>
                                              <p:pRg st="6" end="6"/>
                                            </p:txEl>
                                          </p:spTgt>
                                        </p:tgtEl>
                                      </p:cBhvr>
                                    </p:animEffect>
                                    <p:anim calcmode="lin" valueType="num">
                                      <p:cBhvr>
                                        <p:cTn id="36" dur="2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37" dur="2000" fill="hold"/>
                                        <p:tgtEl>
                                          <p:spTgt spid="9">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2000"/>
                                  </p:stCondLst>
                                  <p:childTnLst>
                                    <p:set>
                                      <p:cBhvr>
                                        <p:cTn id="39" dur="1" fill="hold">
                                          <p:stCondLst>
                                            <p:cond delay="0"/>
                                          </p:stCondLst>
                                        </p:cTn>
                                        <p:tgtEl>
                                          <p:spTgt spid="9">
                                            <p:txEl>
                                              <p:pRg st="7" end="7"/>
                                            </p:txEl>
                                          </p:spTgt>
                                        </p:tgtEl>
                                        <p:attrNameLst>
                                          <p:attrName>style.visibility</p:attrName>
                                        </p:attrNameLst>
                                      </p:cBhvr>
                                      <p:to>
                                        <p:strVal val="visible"/>
                                      </p:to>
                                    </p:set>
                                    <p:animEffect transition="in" filter="fade">
                                      <p:cBhvr>
                                        <p:cTn id="40" dur="2000"/>
                                        <p:tgtEl>
                                          <p:spTgt spid="9">
                                            <p:txEl>
                                              <p:pRg st="7" end="7"/>
                                            </p:txEl>
                                          </p:spTgt>
                                        </p:tgtEl>
                                      </p:cBhvr>
                                    </p:animEffect>
                                    <p:anim calcmode="lin" valueType="num">
                                      <p:cBhvr>
                                        <p:cTn id="41" dur="2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2" dur="2000" fill="hold"/>
                                        <p:tgtEl>
                                          <p:spTgt spid="9">
                                            <p:txEl>
                                              <p:pRg st="7" end="7"/>
                                            </p:txEl>
                                          </p:spTgt>
                                        </p:tgtEl>
                                        <p:attrNameLst>
                                          <p:attrName>ppt_y</p:attrName>
                                        </p:attrNameLst>
                                      </p:cBhvr>
                                      <p:tavLst>
                                        <p:tav tm="0">
                                          <p:val>
                                            <p:strVal val="#ppt_y+.1"/>
                                          </p:val>
                                        </p:tav>
                                        <p:tav tm="100000">
                                          <p:val>
                                            <p:strVal val="#ppt_y"/>
                                          </p:val>
                                        </p:tav>
                                      </p:tavLst>
                                    </p:anim>
                                  </p:childTnLst>
                                </p:cTn>
                              </p:par>
                              <p:par>
                                <p:cTn id="43" presetID="16" presetClass="entr" presetSubtype="21" fill="hold" nodeType="withEffect">
                                  <p:stCondLst>
                                    <p:cond delay="0"/>
                                  </p:stCondLst>
                                  <p:childTnLst>
                                    <p:set>
                                      <p:cBhvr>
                                        <p:cTn id="44" dur="1" fill="hold">
                                          <p:stCondLst>
                                            <p:cond delay="0"/>
                                          </p:stCondLst>
                                        </p:cTn>
                                        <p:tgtEl>
                                          <p:spTgt spid="8">
                                            <p:txEl>
                                              <p:pRg st="0" end="0"/>
                                            </p:txEl>
                                          </p:spTgt>
                                        </p:tgtEl>
                                        <p:attrNameLst>
                                          <p:attrName>style.visibility</p:attrName>
                                        </p:attrNameLst>
                                      </p:cBhvr>
                                      <p:to>
                                        <p:strVal val="visible"/>
                                      </p:to>
                                    </p:set>
                                    <p:animEffect transition="in" filter="barn(inVertical)">
                                      <p:cBhvr>
                                        <p:cTn id="45" dur="500"/>
                                        <p:tgtEl>
                                          <p:spTgt spid="8">
                                            <p:txEl>
                                              <p:pRg st="0" end="0"/>
                                            </p:txEl>
                                          </p:spTgt>
                                        </p:tgtEl>
                                      </p:cBhvr>
                                    </p:animEffect>
                                  </p:childTnLst>
                                </p:cTn>
                              </p:par>
                              <p:par>
                                <p:cTn id="46" presetID="16" presetClass="entr" presetSubtype="21"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arn(inVertical)">
                                      <p:cBhvr>
                                        <p:cTn id="48" dur="2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324544" y="1484784"/>
            <a:ext cx="864096" cy="1080120"/>
          </a:xfrm>
          <a:prstGeom prst="roundRect">
            <a:avLst/>
          </a:prstGeom>
          <a:solidFill>
            <a:srgbClr val="00B05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1475656" y="-160802"/>
            <a:ext cx="720080" cy="648072"/>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4211960" y="-603448"/>
            <a:ext cx="1080120" cy="1080120"/>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8460432" y="2024844"/>
            <a:ext cx="1008112" cy="972108"/>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8478361" y="5301208"/>
            <a:ext cx="720080" cy="836712"/>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3275856" y="6381328"/>
            <a:ext cx="1080120" cy="720080"/>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467544" y="404664"/>
            <a:ext cx="8227132" cy="6048672"/>
          </a:xfrm>
          <a:prstGeom prst="roundRect">
            <a:avLst/>
          </a:prstGeom>
          <a:solidFill>
            <a:schemeClr val="bg1"/>
          </a:solidFill>
          <a:ln>
            <a:solidFill>
              <a:schemeClr val="tx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p:cNvSpPr txBox="1"/>
          <p:nvPr/>
        </p:nvSpPr>
        <p:spPr>
          <a:xfrm>
            <a:off x="827584" y="548679"/>
            <a:ext cx="7317161"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a:ln>
                  <a:noFill/>
                </a:ln>
                <a:solidFill>
                  <a:srgbClr val="FF0000"/>
                </a:solidFill>
                <a:effectLst/>
                <a:uLnTx/>
                <a:uFillTx/>
              </a:rPr>
              <a:t>أنواع أجهزة المضاعفات وأجهزة التعدد في أنظمة الألياف </a:t>
            </a:r>
            <a:r>
              <a:rPr kumimoji="0" lang="ar-DZ" sz="2400" b="1" i="0" u="none" strike="noStrike" kern="0" cap="none" spc="0" normalizeH="0" baseline="0" noProof="0" dirty="0" smtClean="0">
                <a:ln>
                  <a:noFill/>
                </a:ln>
                <a:solidFill>
                  <a:srgbClr val="FF0000"/>
                </a:solidFill>
                <a:effectLst/>
                <a:uLnTx/>
                <a:uFillTx/>
              </a:rPr>
              <a:t>البصرية :</a:t>
            </a:r>
            <a:endParaRPr kumimoji="0" lang="ar-DZ" sz="2400" b="1" i="0" u="none" strike="noStrike" kern="0" cap="none" spc="0" normalizeH="0" baseline="0" noProof="0" dirty="0">
              <a:ln>
                <a:noFill/>
              </a:ln>
              <a:solidFill>
                <a:srgbClr val="FF0000"/>
              </a:solidFill>
              <a:effectLst/>
              <a:uLnTx/>
              <a:uFillTx/>
            </a:endParaRPr>
          </a:p>
        </p:txBody>
      </p:sp>
      <p:sp>
        <p:nvSpPr>
          <p:cNvPr id="10" name="Rectangle 9"/>
          <p:cNvSpPr/>
          <p:nvPr/>
        </p:nvSpPr>
        <p:spPr>
          <a:xfrm>
            <a:off x="649440" y="1052736"/>
            <a:ext cx="7920880" cy="4093428"/>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smtClean="0">
                <a:ln>
                  <a:noFill/>
                </a:ln>
                <a:solidFill>
                  <a:sysClr val="windowText" lastClr="000000"/>
                </a:solidFill>
                <a:effectLst/>
                <a:uLnTx/>
                <a:uFillTx/>
              </a:rPr>
              <a:t>تُستخدم </a:t>
            </a:r>
            <a:r>
              <a:rPr kumimoji="0" lang="ar-DZ" sz="2000" b="0" i="0" u="none" strike="noStrike" kern="0" cap="none" spc="0" normalizeH="0" baseline="0" noProof="0" dirty="0">
                <a:ln>
                  <a:noFill/>
                </a:ln>
                <a:solidFill>
                  <a:sysClr val="windowText" lastClr="000000"/>
                </a:solidFill>
                <a:effectLst/>
                <a:uLnTx/>
                <a:uFillTx/>
              </a:rPr>
              <a:t>أجهزة المضاعفات وأجهزة التعدد في شبكات الألياف البصرية بهدف زيادة كفاءة استغلال قناة الإرسال وتمكين نقل أكثر من إشارة في الوقت نفسه عبر وسط واحد.</a:t>
            </a: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ar-DZ" sz="2000" b="1" i="0" u="sng" strike="noStrike" kern="0" cap="none" spc="0" normalizeH="0" baseline="0" noProof="0" dirty="0">
                <a:ln>
                  <a:noFill/>
                </a:ln>
                <a:solidFill>
                  <a:sysClr val="windowText" lastClr="000000"/>
                </a:solidFill>
                <a:effectLst/>
                <a:uLnTx/>
                <a:uFillTx/>
              </a:rPr>
              <a:t>أولًا: أجهزة المضاعفات </a:t>
            </a:r>
            <a:r>
              <a:rPr kumimoji="0" lang="fr-FR" sz="2000" b="1" i="0" u="sng" strike="noStrike" kern="0" cap="none" spc="0" normalizeH="0" baseline="0" noProof="0" dirty="0" smtClean="0">
                <a:ln>
                  <a:noFill/>
                </a:ln>
                <a:solidFill>
                  <a:sysClr val="windowText" lastClr="000000"/>
                </a:solidFill>
                <a:effectLst/>
                <a:uLnTx/>
                <a:uFillTx/>
              </a:rPr>
              <a:t>Multiplexers)</a:t>
            </a:r>
            <a:r>
              <a:rPr kumimoji="0" lang="ar-DZ" sz="2000" b="1" i="0" u="sng" strike="noStrike" kern="0" cap="none" spc="0" normalizeH="0" baseline="0" noProof="0" dirty="0" smtClean="0">
                <a:ln>
                  <a:noFill/>
                </a:ln>
                <a:solidFill>
                  <a:sysClr val="windowText" lastClr="000000"/>
                </a:solidFill>
                <a:effectLst/>
                <a:uLnTx/>
                <a:uFillTx/>
              </a:rPr>
              <a:t>)</a:t>
            </a:r>
            <a:endParaRPr kumimoji="0" lang="fr-FR" sz="2000" b="1" i="0" u="sng"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smtClean="0">
                <a:ln>
                  <a:noFill/>
                </a:ln>
                <a:solidFill>
                  <a:sysClr val="windowText" lastClr="000000"/>
                </a:solidFill>
                <a:effectLst/>
                <a:uLnTx/>
                <a:uFillTx/>
              </a:rPr>
              <a:t>1-المضاعف </a:t>
            </a:r>
            <a:r>
              <a:rPr kumimoji="0" lang="ar-DZ" sz="2000" b="1" i="0" u="none" strike="noStrike" kern="0" cap="none" spc="0" normalizeH="0" baseline="0" noProof="0" dirty="0">
                <a:ln>
                  <a:noFill/>
                </a:ln>
                <a:solidFill>
                  <a:sysClr val="windowText" lastClr="000000"/>
                </a:solidFill>
                <a:effectLst/>
                <a:uLnTx/>
                <a:uFillTx/>
              </a:rPr>
              <a:t>الزمني </a:t>
            </a:r>
            <a:r>
              <a:rPr kumimoji="0" lang="fr-FR" sz="2000" b="1" i="0" u="none" strike="noStrike" kern="0" cap="none" spc="0" normalizeH="0" baseline="0" noProof="0" dirty="0" smtClean="0">
                <a:ln>
                  <a:noFill/>
                </a:ln>
                <a:solidFill>
                  <a:sysClr val="windowText" lastClr="000000"/>
                </a:solidFill>
                <a:effectLst/>
                <a:uLnTx/>
                <a:uFillTx/>
              </a:rPr>
              <a:t>Time </a:t>
            </a:r>
            <a:r>
              <a:rPr kumimoji="0" lang="fr-FR" sz="2000" b="1" i="0" u="none" strike="noStrike" kern="0" cap="none" spc="0" normalizeH="0" baseline="0" noProof="0" dirty="0">
                <a:ln>
                  <a:noFill/>
                </a:ln>
                <a:solidFill>
                  <a:sysClr val="windowText" lastClr="000000"/>
                </a:solidFill>
                <a:effectLst/>
                <a:uLnTx/>
                <a:uFillTx/>
              </a:rPr>
              <a:t>Division Multiplexer – TDM</a:t>
            </a:r>
            <a:r>
              <a:rPr kumimoji="0" lang="fr-FR" sz="2000" b="1" i="0" u="none" strike="noStrike" kern="0" cap="none" spc="0" normalizeH="0" baseline="0" noProof="0" dirty="0" smtClean="0">
                <a:ln>
                  <a:noFill/>
                </a:ln>
                <a:solidFill>
                  <a:sysClr val="windowText" lastClr="000000"/>
                </a:solidFill>
                <a:effectLst/>
                <a:uLnTx/>
                <a:uFillTx/>
              </a:rPr>
              <a:t>)</a:t>
            </a:r>
            <a:r>
              <a:rPr kumimoji="0" lang="ar-DZ" sz="2000" b="1" i="0" u="none" strike="noStrike" kern="0" cap="none" spc="0" normalizeH="0" baseline="0" noProof="0" dirty="0" smtClean="0">
                <a:ln>
                  <a:noFill/>
                </a:ln>
                <a:solidFill>
                  <a:sysClr val="windowText" lastClr="000000"/>
                </a:solidFill>
                <a:effectLst/>
                <a:uLnTx/>
                <a:uFillTx/>
              </a:rPr>
              <a:t>)</a:t>
            </a:r>
            <a:endParaRPr kumimoji="0" lang="fr-FR"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يعتمد على تقسيم زمن الإرسال إلى فترات زمنية قصيرة، حيث تُرسل كل إشارة في وقت محدد بالتتابع عبر نفس الليف البصري.</a:t>
            </a:r>
            <a:endParaRPr kumimoji="0" lang="ar-DZ"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smtClean="0">
                <a:ln>
                  <a:noFill/>
                </a:ln>
                <a:solidFill>
                  <a:sysClr val="windowText" lastClr="000000"/>
                </a:solidFill>
                <a:effectLst/>
                <a:uLnTx/>
                <a:uFillTx/>
              </a:rPr>
              <a:t>2-المضاعف </a:t>
            </a:r>
            <a:r>
              <a:rPr kumimoji="0" lang="ar-DZ" sz="2000" b="1" i="0" u="none" strike="noStrike" kern="0" cap="none" spc="0" normalizeH="0" baseline="0" noProof="0" dirty="0">
                <a:ln>
                  <a:noFill/>
                </a:ln>
                <a:solidFill>
                  <a:sysClr val="windowText" lastClr="000000"/>
                </a:solidFill>
                <a:effectLst/>
                <a:uLnTx/>
                <a:uFillTx/>
              </a:rPr>
              <a:t>الترددي </a:t>
            </a:r>
            <a:r>
              <a:rPr kumimoji="0" lang="fr-FR" sz="2000" b="1" i="0" u="none" strike="noStrike" kern="0" cap="none" spc="0" normalizeH="0" baseline="0" noProof="0" dirty="0" smtClean="0">
                <a:ln>
                  <a:noFill/>
                </a:ln>
                <a:solidFill>
                  <a:sysClr val="windowText" lastClr="000000"/>
                </a:solidFill>
                <a:effectLst/>
                <a:uLnTx/>
                <a:uFillTx/>
              </a:rPr>
              <a:t>Frequency </a:t>
            </a:r>
            <a:r>
              <a:rPr kumimoji="0" lang="fr-FR" sz="2000" b="1" i="0" u="none" strike="noStrike" kern="0" cap="none" spc="0" normalizeH="0" baseline="0" noProof="0" dirty="0">
                <a:ln>
                  <a:noFill/>
                </a:ln>
                <a:solidFill>
                  <a:sysClr val="windowText" lastClr="000000"/>
                </a:solidFill>
                <a:effectLst/>
                <a:uLnTx/>
                <a:uFillTx/>
              </a:rPr>
              <a:t>Division Multiplexer – FDM</a:t>
            </a:r>
            <a:r>
              <a:rPr kumimoji="0" lang="fr-FR" sz="2000" b="1" i="0" u="none" strike="noStrike" kern="0" cap="none" spc="0" normalizeH="0" baseline="0" noProof="0" dirty="0" smtClean="0">
                <a:ln>
                  <a:noFill/>
                </a:ln>
                <a:solidFill>
                  <a:sysClr val="windowText" lastClr="000000"/>
                </a:solidFill>
                <a:effectLst/>
                <a:uLnTx/>
                <a:uFillTx/>
              </a:rPr>
              <a:t>)</a:t>
            </a:r>
            <a:r>
              <a:rPr kumimoji="0" lang="ar-DZ" sz="2000" b="1" i="0" u="none" strike="noStrike" kern="0" cap="none" spc="0" normalizeH="0" baseline="0" noProof="0" dirty="0" smtClean="0">
                <a:ln>
                  <a:noFill/>
                </a:ln>
                <a:solidFill>
                  <a:sysClr val="windowText" lastClr="000000"/>
                </a:solidFill>
                <a:effectLst/>
                <a:uLnTx/>
                <a:uFillTx/>
              </a:rPr>
              <a:t>)</a:t>
            </a:r>
            <a:endParaRPr kumimoji="0" lang="fr-FR"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يقوم بدمج عدة إشارات في قناة واحدة من خلال تخصيص نطاق ترددي مختلف لكل إشارة.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smtClean="0">
                <a:ln>
                  <a:noFill/>
                </a:ln>
                <a:solidFill>
                  <a:sysClr val="windowText" lastClr="000000"/>
                </a:solidFill>
                <a:effectLst/>
                <a:uLnTx/>
                <a:uFillTx/>
              </a:rPr>
              <a:t>3-المضاعف </a:t>
            </a:r>
            <a:r>
              <a:rPr kumimoji="0" lang="ar-DZ" sz="2000" b="1" i="0" u="none" strike="noStrike" kern="0" cap="none" spc="0" normalizeH="0" baseline="0" noProof="0" dirty="0">
                <a:ln>
                  <a:noFill/>
                </a:ln>
                <a:solidFill>
                  <a:sysClr val="windowText" lastClr="000000"/>
                </a:solidFill>
                <a:effectLst/>
                <a:uLnTx/>
                <a:uFillTx/>
              </a:rPr>
              <a:t>الطيفي </a:t>
            </a:r>
            <a:r>
              <a:rPr kumimoji="0" lang="fr-FR" sz="2000" b="1" i="0" u="none" strike="noStrike" kern="0" cap="none" spc="0" normalizeH="0" baseline="0" noProof="0" dirty="0" smtClean="0">
                <a:ln>
                  <a:noFill/>
                </a:ln>
                <a:solidFill>
                  <a:sysClr val="windowText" lastClr="000000"/>
                </a:solidFill>
                <a:effectLst/>
                <a:uLnTx/>
                <a:uFillTx/>
              </a:rPr>
              <a:t>Wavelength </a:t>
            </a:r>
            <a:r>
              <a:rPr kumimoji="0" lang="fr-FR" sz="2000" b="1" i="0" u="none" strike="noStrike" kern="0" cap="none" spc="0" normalizeH="0" baseline="0" noProof="0" dirty="0">
                <a:ln>
                  <a:noFill/>
                </a:ln>
                <a:solidFill>
                  <a:sysClr val="windowText" lastClr="000000"/>
                </a:solidFill>
                <a:effectLst/>
                <a:uLnTx/>
                <a:uFillTx/>
              </a:rPr>
              <a:t>Division Multiplexer – WDM</a:t>
            </a:r>
            <a:r>
              <a:rPr kumimoji="0" lang="fr-FR" sz="2000" b="1" i="0" u="none" strike="noStrike" kern="0" cap="none" spc="0" normalizeH="0" baseline="0" noProof="0" dirty="0" smtClean="0">
                <a:ln>
                  <a:noFill/>
                </a:ln>
                <a:solidFill>
                  <a:sysClr val="windowText" lastClr="000000"/>
                </a:solidFill>
                <a:effectLst/>
                <a:uLnTx/>
                <a:uFillTx/>
              </a:rPr>
              <a:t>)</a:t>
            </a:r>
            <a:r>
              <a:rPr kumimoji="0" lang="ar-DZ" sz="2000" b="1" i="0" u="none" strike="noStrike" kern="0" cap="none" spc="0" normalizeH="0" baseline="0" noProof="0" dirty="0" smtClean="0">
                <a:ln>
                  <a:noFill/>
                </a:ln>
                <a:solidFill>
                  <a:sysClr val="windowText" lastClr="000000"/>
                </a:solidFill>
                <a:effectLst/>
                <a:uLnTx/>
                <a:uFillTx/>
              </a:rPr>
              <a:t>)</a:t>
            </a:r>
            <a:endParaRPr kumimoji="0" lang="fr-FR"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يعتمد على إرسال عدة إشارات ضوئية بأطوال موجية مختلفة عبر ليف بصري واحد.</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smtClean="0">
                <a:ln>
                  <a:noFill/>
                </a:ln>
                <a:solidFill>
                  <a:sysClr val="windowText" lastClr="000000"/>
                </a:solidFill>
                <a:effectLst/>
                <a:uLnTx/>
                <a:uFillTx/>
              </a:rPr>
              <a:t>4-المضاعف </a:t>
            </a:r>
            <a:r>
              <a:rPr kumimoji="0" lang="ar-DZ" sz="2000" b="1" i="0" u="none" strike="noStrike" kern="0" cap="none" spc="0" normalizeH="0" baseline="0" noProof="0" dirty="0">
                <a:ln>
                  <a:noFill/>
                </a:ln>
                <a:solidFill>
                  <a:sysClr val="windowText" lastClr="000000"/>
                </a:solidFill>
                <a:effectLst/>
                <a:uLnTx/>
                <a:uFillTx/>
              </a:rPr>
              <a:t>الطيفي الكثيف </a:t>
            </a:r>
            <a:r>
              <a:rPr kumimoji="0" lang="fr-FR" sz="2000" b="1" i="0" u="none" strike="noStrike" kern="0" cap="none" spc="0" normalizeH="0" baseline="0" noProof="0" dirty="0" smtClean="0">
                <a:ln>
                  <a:noFill/>
                </a:ln>
                <a:solidFill>
                  <a:sysClr val="windowText" lastClr="000000"/>
                </a:solidFill>
                <a:effectLst/>
                <a:uLnTx/>
                <a:uFillTx/>
              </a:rPr>
              <a:t>Dense </a:t>
            </a:r>
            <a:r>
              <a:rPr kumimoji="0" lang="fr-FR" sz="2000" b="1" i="0" u="none" strike="noStrike" kern="0" cap="none" spc="0" normalizeH="0" baseline="0" noProof="0" dirty="0">
                <a:ln>
                  <a:noFill/>
                </a:ln>
                <a:solidFill>
                  <a:sysClr val="windowText" lastClr="000000"/>
                </a:solidFill>
                <a:effectLst/>
                <a:uLnTx/>
                <a:uFillTx/>
              </a:rPr>
              <a:t>WDM – DWDM</a:t>
            </a:r>
            <a:r>
              <a:rPr kumimoji="0" lang="fr-FR" sz="2000" b="1" i="0" u="none" strike="noStrike" kern="0" cap="none" spc="0" normalizeH="0" baseline="0" noProof="0" dirty="0" smtClean="0">
                <a:ln>
                  <a:noFill/>
                </a:ln>
                <a:solidFill>
                  <a:sysClr val="windowText" lastClr="000000"/>
                </a:solidFill>
                <a:effectLst/>
                <a:uLnTx/>
                <a:uFillTx/>
              </a:rPr>
              <a:t>)</a:t>
            </a:r>
            <a:r>
              <a:rPr kumimoji="0" lang="ar-DZ" sz="2000" b="1" i="0" u="none" strike="noStrike" kern="0" cap="none" spc="0" normalizeH="0" baseline="0" noProof="0" dirty="0" smtClean="0">
                <a:ln>
                  <a:noFill/>
                </a:ln>
                <a:solidFill>
                  <a:sysClr val="windowText" lastClr="000000"/>
                </a:solidFill>
                <a:effectLst/>
                <a:uLnTx/>
                <a:uFillTx/>
              </a:rPr>
              <a:t>)</a:t>
            </a:r>
            <a:endParaRPr kumimoji="0" lang="fr-FR"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يُعد تطويرًا لتقنية </a:t>
            </a:r>
            <a:r>
              <a:rPr kumimoji="0" lang="fr-FR" sz="2000" b="0" i="0" u="none" strike="noStrike" kern="0" cap="none" spc="0" normalizeH="0" baseline="0" noProof="0" dirty="0">
                <a:ln>
                  <a:noFill/>
                </a:ln>
                <a:solidFill>
                  <a:sysClr val="windowText" lastClr="000000"/>
                </a:solidFill>
                <a:effectLst/>
                <a:uLnTx/>
                <a:uFillTx/>
              </a:rPr>
              <a:t>WDM، </a:t>
            </a:r>
            <a:r>
              <a:rPr kumimoji="0" lang="ar-DZ" sz="2000" b="0" i="0" u="none" strike="noStrike" kern="0" cap="none" spc="0" normalizeH="0" baseline="0" noProof="0" dirty="0">
                <a:ln>
                  <a:noFill/>
                </a:ln>
                <a:solidFill>
                  <a:sysClr val="windowText" lastClr="000000"/>
                </a:solidFill>
                <a:effectLst/>
                <a:uLnTx/>
                <a:uFillTx/>
              </a:rPr>
              <a:t>ويتميز بإمكانية دمج عدد كبير جدًا من القنوات الضوئية في الليف الواحد</a:t>
            </a:r>
            <a:r>
              <a:rPr kumimoji="0" lang="ar-DZ" sz="2000" b="0" i="0" u="none" strike="noStrike" kern="0" cap="none" spc="0" normalizeH="0" baseline="0" noProof="0" dirty="0" smtClean="0">
                <a:ln>
                  <a:noFill/>
                </a:ln>
                <a:solidFill>
                  <a:sysClr val="windowText" lastClr="000000"/>
                </a:solidFill>
                <a:effectLst/>
                <a:uLnTx/>
                <a:uFillTx/>
              </a:rPr>
              <a:t>.</a:t>
            </a:r>
            <a:endParaRPr kumimoji="0" lang="ar-DZ" sz="20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271598324"/>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arn(inVertical)">
                                      <p:cBhvr>
                                        <p:cTn id="7" dur="500"/>
                                        <p:tgtEl>
                                          <p:spTgt spid="9">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2000"/>
                                        <p:tgtEl>
                                          <p:spTgt spid="10">
                                            <p:txEl>
                                              <p:pRg st="0" end="0"/>
                                            </p:txEl>
                                          </p:spTgt>
                                        </p:tgtEl>
                                      </p:cBhvr>
                                    </p:animEffect>
                                    <p:anim calcmode="lin" valueType="num">
                                      <p:cBhvr>
                                        <p:cTn id="11" dur="2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2" dur="2000" fill="hold"/>
                                        <p:tgtEl>
                                          <p:spTgt spid="10">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2000"/>
                                        <p:tgtEl>
                                          <p:spTgt spid="10">
                                            <p:txEl>
                                              <p:pRg st="1" end="1"/>
                                            </p:txEl>
                                          </p:spTgt>
                                        </p:tgtEl>
                                      </p:cBhvr>
                                    </p:animEffect>
                                    <p:anim calcmode="lin" valueType="num">
                                      <p:cBhvr>
                                        <p:cTn id="16" dur="2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7" dur="2000" fill="hold"/>
                                        <p:tgtEl>
                                          <p:spTgt spid="10">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fade">
                                      <p:cBhvr>
                                        <p:cTn id="20" dur="2000"/>
                                        <p:tgtEl>
                                          <p:spTgt spid="10">
                                            <p:txEl>
                                              <p:pRg st="2" end="2"/>
                                            </p:txEl>
                                          </p:spTgt>
                                        </p:tgtEl>
                                      </p:cBhvr>
                                    </p:animEffect>
                                    <p:anim calcmode="lin" valueType="num">
                                      <p:cBhvr>
                                        <p:cTn id="21" dur="2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2" dur="2000" fill="hold"/>
                                        <p:tgtEl>
                                          <p:spTgt spid="10">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Effect transition="in" filter="fade">
                                      <p:cBhvr>
                                        <p:cTn id="25" dur="2000"/>
                                        <p:tgtEl>
                                          <p:spTgt spid="10">
                                            <p:txEl>
                                              <p:pRg st="3" end="3"/>
                                            </p:txEl>
                                          </p:spTgt>
                                        </p:tgtEl>
                                      </p:cBhvr>
                                    </p:animEffect>
                                    <p:anim calcmode="lin" valueType="num">
                                      <p:cBhvr>
                                        <p:cTn id="26" dur="2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7" dur="2000" fill="hold"/>
                                        <p:tgtEl>
                                          <p:spTgt spid="10">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10">
                                            <p:txEl>
                                              <p:pRg st="4" end="4"/>
                                            </p:txEl>
                                          </p:spTgt>
                                        </p:tgtEl>
                                        <p:attrNameLst>
                                          <p:attrName>style.visibility</p:attrName>
                                        </p:attrNameLst>
                                      </p:cBhvr>
                                      <p:to>
                                        <p:strVal val="visible"/>
                                      </p:to>
                                    </p:set>
                                    <p:animEffect transition="in" filter="fade">
                                      <p:cBhvr>
                                        <p:cTn id="30" dur="2000"/>
                                        <p:tgtEl>
                                          <p:spTgt spid="10">
                                            <p:txEl>
                                              <p:pRg st="4" end="4"/>
                                            </p:txEl>
                                          </p:spTgt>
                                        </p:tgtEl>
                                      </p:cBhvr>
                                    </p:animEffect>
                                    <p:anim calcmode="lin" valueType="num">
                                      <p:cBhvr>
                                        <p:cTn id="31" dur="2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2" dur="2000" fill="hold"/>
                                        <p:tgtEl>
                                          <p:spTgt spid="10">
                                            <p:txEl>
                                              <p:pRg st="4" end="4"/>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0">
                                            <p:txEl>
                                              <p:pRg st="5" end="5"/>
                                            </p:txEl>
                                          </p:spTgt>
                                        </p:tgtEl>
                                        <p:attrNameLst>
                                          <p:attrName>style.visibility</p:attrName>
                                        </p:attrNameLst>
                                      </p:cBhvr>
                                      <p:to>
                                        <p:strVal val="visible"/>
                                      </p:to>
                                    </p:set>
                                    <p:animEffect transition="in" filter="fade">
                                      <p:cBhvr>
                                        <p:cTn id="35" dur="2000"/>
                                        <p:tgtEl>
                                          <p:spTgt spid="10">
                                            <p:txEl>
                                              <p:pRg st="5" end="5"/>
                                            </p:txEl>
                                          </p:spTgt>
                                        </p:tgtEl>
                                      </p:cBhvr>
                                    </p:animEffect>
                                    <p:anim calcmode="lin" valueType="num">
                                      <p:cBhvr>
                                        <p:cTn id="36" dur="2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37" dur="2000" fill="hold"/>
                                        <p:tgtEl>
                                          <p:spTgt spid="10">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0">
                                            <p:txEl>
                                              <p:pRg st="6" end="6"/>
                                            </p:txEl>
                                          </p:spTgt>
                                        </p:tgtEl>
                                        <p:attrNameLst>
                                          <p:attrName>style.visibility</p:attrName>
                                        </p:attrNameLst>
                                      </p:cBhvr>
                                      <p:to>
                                        <p:strVal val="visible"/>
                                      </p:to>
                                    </p:set>
                                    <p:animEffect transition="in" filter="fade">
                                      <p:cBhvr>
                                        <p:cTn id="40" dur="2000"/>
                                        <p:tgtEl>
                                          <p:spTgt spid="10">
                                            <p:txEl>
                                              <p:pRg st="6" end="6"/>
                                            </p:txEl>
                                          </p:spTgt>
                                        </p:tgtEl>
                                      </p:cBhvr>
                                    </p:animEffect>
                                    <p:anim calcmode="lin" valueType="num">
                                      <p:cBhvr>
                                        <p:cTn id="41" dur="2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42" dur="2000" fill="hold"/>
                                        <p:tgtEl>
                                          <p:spTgt spid="10">
                                            <p:txEl>
                                              <p:pRg st="6" end="6"/>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10">
                                            <p:txEl>
                                              <p:pRg st="7" end="7"/>
                                            </p:txEl>
                                          </p:spTgt>
                                        </p:tgtEl>
                                        <p:attrNameLst>
                                          <p:attrName>style.visibility</p:attrName>
                                        </p:attrNameLst>
                                      </p:cBhvr>
                                      <p:to>
                                        <p:strVal val="visible"/>
                                      </p:to>
                                    </p:set>
                                    <p:animEffect transition="in" filter="fade">
                                      <p:cBhvr>
                                        <p:cTn id="45" dur="2000"/>
                                        <p:tgtEl>
                                          <p:spTgt spid="10">
                                            <p:txEl>
                                              <p:pRg st="7" end="7"/>
                                            </p:txEl>
                                          </p:spTgt>
                                        </p:tgtEl>
                                      </p:cBhvr>
                                    </p:animEffect>
                                    <p:anim calcmode="lin" valueType="num">
                                      <p:cBhvr>
                                        <p:cTn id="46" dur="2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47" dur="2000" fill="hold"/>
                                        <p:tgtEl>
                                          <p:spTgt spid="10">
                                            <p:txEl>
                                              <p:pRg st="7" end="7"/>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0">
                                            <p:txEl>
                                              <p:pRg st="8" end="8"/>
                                            </p:txEl>
                                          </p:spTgt>
                                        </p:tgtEl>
                                        <p:attrNameLst>
                                          <p:attrName>style.visibility</p:attrName>
                                        </p:attrNameLst>
                                      </p:cBhvr>
                                      <p:to>
                                        <p:strVal val="visible"/>
                                      </p:to>
                                    </p:set>
                                    <p:animEffect transition="in" filter="fade">
                                      <p:cBhvr>
                                        <p:cTn id="50" dur="2000"/>
                                        <p:tgtEl>
                                          <p:spTgt spid="10">
                                            <p:txEl>
                                              <p:pRg st="8" end="8"/>
                                            </p:txEl>
                                          </p:spTgt>
                                        </p:tgtEl>
                                      </p:cBhvr>
                                    </p:animEffect>
                                    <p:anim calcmode="lin" valueType="num">
                                      <p:cBhvr>
                                        <p:cTn id="51" dur="2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52" dur="2000" fill="hold"/>
                                        <p:tgtEl>
                                          <p:spTgt spid="10">
                                            <p:txEl>
                                              <p:pRg st="8" end="8"/>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0">
                                            <p:txEl>
                                              <p:pRg st="9" end="9"/>
                                            </p:txEl>
                                          </p:spTgt>
                                        </p:tgtEl>
                                        <p:attrNameLst>
                                          <p:attrName>style.visibility</p:attrName>
                                        </p:attrNameLst>
                                      </p:cBhvr>
                                      <p:to>
                                        <p:strVal val="visible"/>
                                      </p:to>
                                    </p:set>
                                    <p:animEffect transition="in" filter="fade">
                                      <p:cBhvr>
                                        <p:cTn id="55" dur="2000"/>
                                        <p:tgtEl>
                                          <p:spTgt spid="10">
                                            <p:txEl>
                                              <p:pRg st="9" end="9"/>
                                            </p:txEl>
                                          </p:spTgt>
                                        </p:tgtEl>
                                      </p:cBhvr>
                                    </p:animEffect>
                                    <p:anim calcmode="lin" valueType="num">
                                      <p:cBhvr>
                                        <p:cTn id="56" dur="2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57" dur="2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1619672" y="-315416"/>
            <a:ext cx="864096" cy="792088"/>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4572000" y="-315416"/>
            <a:ext cx="864096" cy="855621"/>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6444208" y="-279122"/>
            <a:ext cx="864096" cy="836712"/>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252536" y="2636912"/>
            <a:ext cx="1008112" cy="1008112"/>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306616" y="5445224"/>
            <a:ext cx="1206207" cy="1080120"/>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8532440" y="2564904"/>
            <a:ext cx="1152128" cy="1008112"/>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6732240" y="6021288"/>
            <a:ext cx="1152128" cy="1008112"/>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à coins arrondis 8"/>
          <p:cNvSpPr/>
          <p:nvPr/>
        </p:nvSpPr>
        <p:spPr>
          <a:xfrm>
            <a:off x="524772" y="338156"/>
            <a:ext cx="8208912" cy="6192688"/>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619054" y="764704"/>
            <a:ext cx="7920880" cy="2246769"/>
          </a:xfrm>
          <a:prstGeom prst="rect">
            <a:avLst/>
          </a:prstGeom>
        </p:spPr>
        <p:txBody>
          <a:bodyPr wrap="square">
            <a:spAutoFit/>
          </a:bodyPr>
          <a:lstStyle/>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ar-DZ" sz="2000" b="1" i="0" u="sng" strike="noStrike" kern="0" cap="none" spc="0" normalizeH="0" baseline="0" noProof="0" dirty="0">
                <a:ln>
                  <a:noFill/>
                </a:ln>
                <a:solidFill>
                  <a:sysClr val="windowText" lastClr="000000"/>
                </a:solidFill>
                <a:effectLst/>
                <a:uLnTx/>
                <a:uFillTx/>
              </a:rPr>
              <a:t>ثانيًا: أجهزة التعدد </a:t>
            </a:r>
            <a:r>
              <a:rPr kumimoji="0" lang="fr-FR" sz="2000" b="1" i="0" u="sng" strike="noStrike" kern="0" cap="none" spc="0" normalizeH="0" baseline="0" noProof="0" dirty="0" smtClean="0">
                <a:ln>
                  <a:noFill/>
                </a:ln>
                <a:solidFill>
                  <a:sysClr val="windowText" lastClr="000000"/>
                </a:solidFill>
                <a:effectLst/>
                <a:uLnTx/>
                <a:uFillTx/>
              </a:rPr>
              <a:t>Demultiplexers)</a:t>
            </a:r>
            <a:r>
              <a:rPr kumimoji="0" lang="ar-DZ" sz="2000" b="1" i="0" u="sng" strike="noStrike" kern="0" cap="none" spc="0" normalizeH="0" baseline="0" noProof="0" dirty="0" smtClean="0">
                <a:ln>
                  <a:noFill/>
                </a:ln>
                <a:solidFill>
                  <a:sysClr val="windowText" lastClr="000000"/>
                </a:solidFill>
                <a:effectLst/>
                <a:uLnTx/>
                <a:uFillTx/>
              </a:rPr>
              <a:t>)</a:t>
            </a:r>
            <a:endParaRPr kumimoji="0" lang="fr-FR" sz="2000" b="1" i="0" u="sng"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a:ln>
                  <a:noFill/>
                </a:ln>
                <a:solidFill>
                  <a:sysClr val="windowText" lastClr="000000"/>
                </a:solidFill>
                <a:effectLst/>
                <a:uLnTx/>
                <a:uFillTx/>
              </a:rPr>
              <a:t>جهاز التعدد الزمني </a:t>
            </a:r>
            <a:r>
              <a:rPr kumimoji="0" lang="fr-FR" sz="2000" b="1" i="0" u="none" strike="noStrike" kern="0" cap="none" spc="0" normalizeH="0" baseline="0" noProof="0" dirty="0" smtClean="0">
                <a:ln>
                  <a:noFill/>
                </a:ln>
                <a:solidFill>
                  <a:sysClr val="windowText" lastClr="000000"/>
                </a:solidFill>
                <a:effectLst/>
                <a:uLnTx/>
                <a:uFillTx/>
              </a:rPr>
              <a:t>Time </a:t>
            </a:r>
            <a:r>
              <a:rPr kumimoji="0" lang="fr-FR" sz="2000" b="1" i="0" u="none" strike="noStrike" kern="0" cap="none" spc="0" normalizeH="0" baseline="0" noProof="0" dirty="0">
                <a:ln>
                  <a:noFill/>
                </a:ln>
                <a:solidFill>
                  <a:sysClr val="windowText" lastClr="000000"/>
                </a:solidFill>
                <a:effectLst/>
                <a:uLnTx/>
                <a:uFillTx/>
              </a:rPr>
              <a:t>Division Demultiplexer</a:t>
            </a:r>
            <a:r>
              <a:rPr kumimoji="0" lang="fr-FR" sz="2000" b="1" i="0" u="none" strike="noStrike" kern="0" cap="none" spc="0" normalizeH="0" baseline="0" noProof="0" dirty="0" smtClean="0">
                <a:ln>
                  <a:noFill/>
                </a:ln>
                <a:solidFill>
                  <a:sysClr val="windowText" lastClr="000000"/>
                </a:solidFill>
                <a:effectLst/>
                <a:uLnTx/>
                <a:uFillTx/>
              </a:rPr>
              <a:t>)</a:t>
            </a:r>
            <a:r>
              <a:rPr kumimoji="0" lang="ar-DZ" sz="2000" b="1" i="0" u="none" strike="noStrike" kern="0" cap="none" spc="0" normalizeH="0" baseline="0" noProof="0" dirty="0" smtClean="0">
                <a:ln>
                  <a:noFill/>
                </a:ln>
                <a:solidFill>
                  <a:sysClr val="windowText" lastClr="000000"/>
                </a:solidFill>
                <a:effectLst/>
                <a:uLnTx/>
                <a:uFillTx/>
              </a:rPr>
              <a:t>)</a:t>
            </a:r>
            <a:endParaRPr kumimoji="0" lang="fr-FR"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يعمل على فصل الإشارات المستقبلة وفق الترتيب الزمني الذي أُرسلت به.</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a:ln>
                  <a:noFill/>
                </a:ln>
                <a:solidFill>
                  <a:sysClr val="windowText" lastClr="000000"/>
                </a:solidFill>
                <a:effectLst/>
                <a:uLnTx/>
                <a:uFillTx/>
              </a:rPr>
              <a:t>جهاز التعدد الترددي </a:t>
            </a:r>
            <a:r>
              <a:rPr kumimoji="0" lang="fr-FR" sz="2000" b="1" i="0" u="none" strike="noStrike" kern="0" cap="none" spc="0" normalizeH="0" baseline="0" noProof="0" dirty="0" smtClean="0">
                <a:ln>
                  <a:noFill/>
                </a:ln>
                <a:solidFill>
                  <a:sysClr val="windowText" lastClr="000000"/>
                </a:solidFill>
                <a:effectLst/>
                <a:uLnTx/>
                <a:uFillTx/>
              </a:rPr>
              <a:t>Frequency </a:t>
            </a:r>
            <a:r>
              <a:rPr kumimoji="0" lang="fr-FR" sz="2000" b="1" i="0" u="none" strike="noStrike" kern="0" cap="none" spc="0" normalizeH="0" baseline="0" noProof="0" dirty="0">
                <a:ln>
                  <a:noFill/>
                </a:ln>
                <a:solidFill>
                  <a:sysClr val="windowText" lastClr="000000"/>
                </a:solidFill>
                <a:effectLst/>
                <a:uLnTx/>
                <a:uFillTx/>
              </a:rPr>
              <a:t>Division Demultiplexer</a:t>
            </a:r>
            <a:r>
              <a:rPr kumimoji="0" lang="fr-FR" sz="2000" b="1" i="0" u="none" strike="noStrike" kern="0" cap="none" spc="0" normalizeH="0" baseline="0" noProof="0" dirty="0" smtClean="0">
                <a:ln>
                  <a:noFill/>
                </a:ln>
                <a:solidFill>
                  <a:sysClr val="windowText" lastClr="000000"/>
                </a:solidFill>
                <a:effectLst/>
                <a:uLnTx/>
                <a:uFillTx/>
              </a:rPr>
              <a:t>)</a:t>
            </a:r>
            <a:r>
              <a:rPr kumimoji="0" lang="ar-DZ" sz="2000" b="1" i="0" u="none" strike="noStrike" kern="0" cap="none" spc="0" normalizeH="0" baseline="0" noProof="0" dirty="0" smtClean="0">
                <a:ln>
                  <a:noFill/>
                </a:ln>
                <a:solidFill>
                  <a:sysClr val="windowText" lastClr="000000"/>
                </a:solidFill>
                <a:effectLst/>
                <a:uLnTx/>
                <a:uFillTx/>
              </a:rPr>
              <a:t>)</a:t>
            </a:r>
            <a:endParaRPr kumimoji="0" lang="fr-FR" sz="2000" b="1" i="0" u="none"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يقوم بفصل الإشارات حسب النطاق الترددي المخصص لكل إشارة.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1" i="0" u="none" strike="noStrike" kern="0" cap="none" spc="0" normalizeH="0" baseline="0" noProof="0" dirty="0">
                <a:ln>
                  <a:noFill/>
                </a:ln>
                <a:solidFill>
                  <a:sysClr val="windowText" lastClr="000000"/>
                </a:solidFill>
                <a:effectLst/>
                <a:uLnTx/>
                <a:uFillTx/>
              </a:rPr>
              <a:t>جهاز التعدد </a:t>
            </a:r>
            <a:r>
              <a:rPr kumimoji="0" lang="ar-DZ" sz="2000" b="1" i="0" u="none" strike="noStrike" kern="0" cap="none" spc="0" normalizeH="0" baseline="0" noProof="0" dirty="0" smtClean="0">
                <a:ln>
                  <a:noFill/>
                </a:ln>
                <a:solidFill>
                  <a:sysClr val="windowText" lastClr="000000"/>
                </a:solidFill>
                <a:effectLst/>
                <a:uLnTx/>
                <a:uFillTx/>
              </a:rPr>
              <a:t>الطيفي</a:t>
            </a:r>
            <a:r>
              <a:rPr kumimoji="0" lang="fr-FR" sz="2000" b="1" i="0" u="none" strike="noStrike" kern="0" cap="none" spc="0" normalizeH="0" baseline="0" noProof="0" dirty="0" smtClean="0">
                <a:ln>
                  <a:noFill/>
                </a:ln>
                <a:solidFill>
                  <a:sysClr val="windowText" lastClr="000000"/>
                </a:solidFill>
                <a:effectLst/>
                <a:uLnTx/>
                <a:uFillTx/>
              </a:rPr>
              <a:t>Wavelength </a:t>
            </a:r>
            <a:r>
              <a:rPr kumimoji="0" lang="fr-FR" sz="2000" b="1" i="0" u="none" strike="noStrike" kern="0" cap="none" spc="0" normalizeH="0" baseline="0" noProof="0" dirty="0">
                <a:ln>
                  <a:noFill/>
                </a:ln>
                <a:solidFill>
                  <a:sysClr val="windowText" lastClr="000000"/>
                </a:solidFill>
                <a:effectLst/>
                <a:uLnTx/>
                <a:uFillTx/>
              </a:rPr>
              <a:t>Division Demultiplexer</a:t>
            </a:r>
            <a:r>
              <a:rPr kumimoji="0" lang="fr-FR" sz="2000" b="1" i="0" u="none" strike="noStrike" kern="0" cap="none" spc="0" normalizeH="0" baseline="0" noProof="0" dirty="0" smtClean="0">
                <a:ln>
                  <a:noFill/>
                </a:ln>
                <a:solidFill>
                  <a:sysClr val="windowText" lastClr="000000"/>
                </a:solidFill>
                <a:effectLst/>
                <a:uLnTx/>
                <a:uFillTx/>
              </a:rPr>
              <a:t>) </a:t>
            </a:r>
            <a:r>
              <a:rPr kumimoji="0" lang="ar-DZ" sz="2000" b="1" i="0" u="none" strike="noStrike" kern="0" cap="none" spc="0" normalizeH="0" baseline="0" noProof="0" dirty="0" smtClean="0">
                <a:ln>
                  <a:noFill/>
                </a:ln>
                <a:solidFill>
                  <a:sysClr val="windowText" lastClr="000000"/>
                </a:solidFill>
                <a:effectLst/>
                <a:uLnTx/>
                <a:uFillTx/>
              </a:rPr>
              <a:t>)</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smtClean="0">
                <a:ln>
                  <a:noFill/>
                </a:ln>
                <a:solidFill>
                  <a:sysClr val="windowText" lastClr="000000"/>
                </a:solidFill>
                <a:effectLst/>
                <a:uLnTx/>
                <a:uFillTx/>
              </a:rPr>
              <a:t>يفصل </a:t>
            </a:r>
            <a:r>
              <a:rPr kumimoji="0" lang="ar-DZ" sz="2000" b="0" i="0" u="none" strike="noStrike" kern="0" cap="none" spc="0" normalizeH="0" baseline="0" noProof="0" dirty="0">
                <a:ln>
                  <a:noFill/>
                </a:ln>
                <a:solidFill>
                  <a:sysClr val="windowText" lastClr="000000"/>
                </a:solidFill>
                <a:effectLst/>
                <a:uLnTx/>
                <a:uFillTx/>
              </a:rPr>
              <a:t>الإشارات الضوئية بناءً على أطوالها الموجية المختلفة.</a:t>
            </a:r>
          </a:p>
        </p:txBody>
      </p:sp>
    </p:spTree>
    <p:extLst>
      <p:ext uri="{BB962C8B-B14F-4D97-AF65-F5344CB8AC3E}">
        <p14:creationId xmlns:p14="http://schemas.microsoft.com/office/powerpoint/2010/main" val="3237778721"/>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anim calcmode="lin" valueType="num">
                                      <p:cBhvr>
                                        <p:cTn id="8" dur="2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2000"/>
                                        <p:tgtEl>
                                          <p:spTgt spid="11">
                                            <p:txEl>
                                              <p:pRg st="1" end="1"/>
                                            </p:txEl>
                                          </p:spTgt>
                                        </p:tgtEl>
                                      </p:cBhvr>
                                    </p:animEffect>
                                    <p:anim calcmode="lin" valueType="num">
                                      <p:cBhvr>
                                        <p:cTn id="13" dur="2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4" dur="2000" fill="hold"/>
                                        <p:tgtEl>
                                          <p:spTgt spid="1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2000"/>
                                        <p:tgtEl>
                                          <p:spTgt spid="11">
                                            <p:txEl>
                                              <p:pRg st="2" end="2"/>
                                            </p:txEl>
                                          </p:spTgt>
                                        </p:tgtEl>
                                      </p:cBhvr>
                                    </p:animEffect>
                                    <p:anim calcmode="lin" valueType="num">
                                      <p:cBhvr>
                                        <p:cTn id="18" dur="2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9" dur="2000" fill="hold"/>
                                        <p:tgtEl>
                                          <p:spTgt spid="1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2000"/>
                                        <p:tgtEl>
                                          <p:spTgt spid="11">
                                            <p:txEl>
                                              <p:pRg st="3" end="3"/>
                                            </p:txEl>
                                          </p:spTgt>
                                        </p:tgtEl>
                                      </p:cBhvr>
                                    </p:animEffect>
                                    <p:anim calcmode="lin" valueType="num">
                                      <p:cBhvr>
                                        <p:cTn id="23" dur="2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4" dur="2000" fill="hold"/>
                                        <p:tgtEl>
                                          <p:spTgt spid="11">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2000"/>
                                        <p:tgtEl>
                                          <p:spTgt spid="11">
                                            <p:txEl>
                                              <p:pRg st="4" end="4"/>
                                            </p:txEl>
                                          </p:spTgt>
                                        </p:tgtEl>
                                      </p:cBhvr>
                                    </p:animEffect>
                                    <p:anim calcmode="lin" valueType="num">
                                      <p:cBhvr>
                                        <p:cTn id="28" dur="2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29" dur="2000" fill="hold"/>
                                        <p:tgtEl>
                                          <p:spTgt spid="11">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fade">
                                      <p:cBhvr>
                                        <p:cTn id="32" dur="2000"/>
                                        <p:tgtEl>
                                          <p:spTgt spid="11">
                                            <p:txEl>
                                              <p:pRg st="5" end="5"/>
                                            </p:txEl>
                                          </p:spTgt>
                                        </p:tgtEl>
                                      </p:cBhvr>
                                    </p:animEffect>
                                    <p:anim calcmode="lin" valueType="num">
                                      <p:cBhvr>
                                        <p:cTn id="33" dur="2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4" dur="2000" fill="hold"/>
                                        <p:tgtEl>
                                          <p:spTgt spid="11">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fade">
                                      <p:cBhvr>
                                        <p:cTn id="37" dur="2000"/>
                                        <p:tgtEl>
                                          <p:spTgt spid="11">
                                            <p:txEl>
                                              <p:pRg st="6" end="6"/>
                                            </p:txEl>
                                          </p:spTgt>
                                        </p:tgtEl>
                                      </p:cBhvr>
                                    </p:animEffect>
                                    <p:anim calcmode="lin" valueType="num">
                                      <p:cBhvr>
                                        <p:cTn id="38" dur="2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9" dur="2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8703568" y="980728"/>
            <a:ext cx="792088" cy="936104"/>
          </a:xfrm>
          <a:prstGeom prst="roundRect">
            <a:avLst/>
          </a:prstGeom>
          <a:solidFill>
            <a:srgbClr val="008080"/>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8532440" y="3789040"/>
            <a:ext cx="936104" cy="1152128"/>
          </a:xfrm>
          <a:prstGeom prst="roundRect">
            <a:avLst/>
          </a:prstGeom>
          <a:solidFill>
            <a:srgbClr val="478958"/>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3059832" y="-387424"/>
            <a:ext cx="1080120" cy="1008112"/>
          </a:xfrm>
          <a:prstGeom prst="roundRect">
            <a:avLst/>
          </a:prstGeom>
          <a:solidFill>
            <a:srgbClr val="40DC9D"/>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396552" y="1700808"/>
            <a:ext cx="1008112" cy="864096"/>
          </a:xfrm>
          <a:prstGeom prst="roundRect">
            <a:avLst/>
          </a:prstGeom>
          <a:solidFill>
            <a:srgbClr val="00FFCC"/>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612576" y="5085184"/>
            <a:ext cx="1368152" cy="1224136"/>
          </a:xfrm>
          <a:prstGeom prst="roundRect">
            <a:avLst/>
          </a:prstGeom>
          <a:solidFill>
            <a:srgbClr val="478958"/>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3923928" y="6093296"/>
            <a:ext cx="1152128" cy="1152128"/>
          </a:xfrm>
          <a:prstGeom prst="roundRect">
            <a:avLst/>
          </a:prstGeom>
          <a:solidFill>
            <a:srgbClr val="40DC9D"/>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à coins arrondis 7"/>
          <p:cNvSpPr/>
          <p:nvPr/>
        </p:nvSpPr>
        <p:spPr>
          <a:xfrm>
            <a:off x="467544" y="404664"/>
            <a:ext cx="8352928" cy="6120680"/>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1390070" y="422093"/>
            <a:ext cx="6552728" cy="461665"/>
          </a:xfrm>
          <a:prstGeom prst="rect">
            <a:avLst/>
          </a:prstGeom>
        </p:spPr>
        <p:txBody>
          <a:bodyPr wrap="square">
            <a:spAutoFit/>
          </a:bodyPr>
          <a:lstStyle/>
          <a:p>
            <a:pPr marL="457200" marR="0" lvl="0" indent="-4572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smtClean="0">
                <a:ln>
                  <a:noFill/>
                </a:ln>
                <a:solidFill>
                  <a:srgbClr val="FF0000"/>
                </a:solidFill>
                <a:effectLst/>
                <a:uLnTx/>
                <a:uFillTx/>
              </a:rPr>
              <a:t>معايير </a:t>
            </a:r>
            <a:r>
              <a:rPr kumimoji="0" lang="ar-DZ" sz="2400" b="1" i="0" u="none" strike="noStrike" kern="0" cap="none" spc="0" normalizeH="0" baseline="0" noProof="0" dirty="0">
                <a:ln>
                  <a:noFill/>
                </a:ln>
                <a:solidFill>
                  <a:srgbClr val="FF0000"/>
                </a:solidFill>
                <a:effectLst/>
                <a:uLnTx/>
                <a:uFillTx/>
              </a:rPr>
              <a:t>النقل الرقمي في شبكات الاتصالات الضوئية:</a:t>
            </a:r>
          </a:p>
        </p:txBody>
      </p:sp>
      <p:sp>
        <p:nvSpPr>
          <p:cNvPr id="10" name="Rectangle 9"/>
          <p:cNvSpPr/>
          <p:nvPr/>
        </p:nvSpPr>
        <p:spPr>
          <a:xfrm>
            <a:off x="683568" y="850615"/>
            <a:ext cx="7920880" cy="1631216"/>
          </a:xfrm>
          <a:prstGeom prst="rect">
            <a:avLst/>
          </a:prstGeom>
        </p:spPr>
        <p:txBody>
          <a:bodyPr wrap="square">
            <a:spAutoFit/>
          </a:bodyPr>
          <a:lstStyle/>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fr-FR" sz="2000" b="1" i="0" u="sng" strike="noStrike" kern="0" cap="none" spc="0" normalizeH="0" baseline="0" noProof="0" dirty="0" smtClean="0">
                <a:ln>
                  <a:noFill/>
                </a:ln>
                <a:solidFill>
                  <a:sysClr val="windowText" lastClr="000000"/>
                </a:solidFill>
                <a:effectLst/>
                <a:uLnTx/>
                <a:uFillTx/>
              </a:rPr>
              <a:t>SONET </a:t>
            </a:r>
            <a:r>
              <a:rPr kumimoji="0" lang="fr-FR" sz="2000" b="1" i="0" u="sng" strike="noStrike" kern="0" cap="none" spc="0" normalizeH="0" baseline="0" noProof="0" dirty="0">
                <a:ln>
                  <a:noFill/>
                </a:ln>
                <a:solidFill>
                  <a:sysClr val="windowText" lastClr="000000"/>
                </a:solidFill>
                <a:effectLst/>
                <a:uLnTx/>
                <a:uFillTx/>
              </a:rPr>
              <a:t>(Synchronous Optical Network</a:t>
            </a:r>
            <a:r>
              <a:rPr kumimoji="0" lang="fr-FR" sz="2000" b="0" i="0" u="sng" strike="noStrike" kern="0" cap="none" spc="0" normalizeH="0" baseline="0" noProof="0" dirty="0" smtClean="0">
                <a:ln>
                  <a:noFill/>
                </a:ln>
                <a:solidFill>
                  <a:sysClr val="windowText" lastClr="000000"/>
                </a:solidFill>
                <a:effectLst/>
                <a:uLnTx/>
                <a:uFillTx/>
              </a:rPr>
              <a:t>)</a:t>
            </a:r>
            <a:endParaRPr kumimoji="0" lang="fr-FR" sz="2000" b="0" i="0" u="sng" strike="noStrike" kern="0" cap="none" spc="0" normalizeH="0" baseline="0" noProof="0" dirty="0">
              <a:ln>
                <a:noFill/>
              </a:ln>
              <a:solidFill>
                <a:sysClr val="windowText" lastClr="000000"/>
              </a:solidFill>
              <a:effectLst/>
              <a:uLnTx/>
              <a:uFillTx/>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هو معيار اتصالات ضوئية متزامن طُوِّر أساسًا في الولايات المتحدة، ويُستخدم لنقل البيانات بسرعات عالية عبر شبكات الألياف البصرية. يتميز بقدرته على دمج عدة قنوات رقمية ضمن إطار زمني موحّد، مما يسهّل إدارة الشبكة ورفع موثوقيتها.</a:t>
            </a:r>
          </a:p>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fr-FR" sz="2000" b="1" i="0" u="sng" strike="noStrike" kern="0" cap="none" spc="0" normalizeH="0" baseline="0" noProof="0" dirty="0">
                <a:ln>
                  <a:noFill/>
                </a:ln>
                <a:solidFill>
                  <a:sysClr val="windowText" lastClr="000000"/>
                </a:solidFill>
                <a:effectLst/>
                <a:uLnTx/>
                <a:uFillTx/>
              </a:rPr>
              <a:t>SDH (Synchronous Digital Hierarchy</a:t>
            </a:r>
            <a:r>
              <a:rPr kumimoji="0" lang="fr-FR" sz="2000" b="0" i="0" u="sng" strike="noStrike" kern="0" cap="none" spc="0" normalizeH="0" baseline="0" noProof="0" dirty="0" smtClean="0">
                <a:ln>
                  <a:noFill/>
                </a:ln>
                <a:solidFill>
                  <a:sysClr val="windowText" lastClr="000000"/>
                </a:solidFill>
                <a:effectLst/>
                <a:uLnTx/>
                <a:uFillTx/>
              </a:rPr>
              <a:t>)</a:t>
            </a:r>
            <a:endParaRPr kumimoji="0" lang="fr-FR" sz="2000" b="0" i="0" u="sng" strike="noStrike" kern="0" cap="none" spc="0" normalizeH="0" baseline="0" noProof="0" dirty="0">
              <a:ln>
                <a:noFill/>
              </a:ln>
              <a:solidFill>
                <a:sysClr val="windowText" lastClr="000000"/>
              </a:solidFill>
              <a:effectLst/>
              <a:uLnTx/>
              <a:uFillTx/>
            </a:endParaRPr>
          </a:p>
        </p:txBody>
      </p:sp>
      <p:sp>
        <p:nvSpPr>
          <p:cNvPr id="11" name="ZoneTexte 10"/>
          <p:cNvSpPr txBox="1"/>
          <p:nvPr/>
        </p:nvSpPr>
        <p:spPr>
          <a:xfrm>
            <a:off x="3923928" y="2636912"/>
            <a:ext cx="4680520" cy="1631216"/>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يُعد المعيار الدولي لنقل البيانات الرقمية المتزامنة عبر الألياف البصرية، وقد طُوِّر ليكون أكثر مرونة وتوافقًا من الأنظمة السابقة. يوفّر </a:t>
            </a:r>
            <a:r>
              <a:rPr kumimoji="0" lang="fr-FR" sz="2000" b="0" i="0" u="none" strike="noStrike" kern="0" cap="none" spc="0" normalizeH="0" baseline="0" noProof="0" dirty="0" smtClean="0">
                <a:ln>
                  <a:noFill/>
                </a:ln>
                <a:solidFill>
                  <a:sysClr val="windowText" lastClr="000000"/>
                </a:solidFill>
                <a:effectLst/>
                <a:uLnTx/>
                <a:uFillTx/>
              </a:rPr>
              <a:t> SDH  </a:t>
            </a:r>
            <a:r>
              <a:rPr kumimoji="0" lang="ar-DZ" sz="2000" b="0" i="0" u="none" strike="noStrike" kern="0" cap="none" spc="0" normalizeH="0" baseline="0" noProof="0" dirty="0">
                <a:ln>
                  <a:noFill/>
                </a:ln>
                <a:solidFill>
                  <a:sysClr val="windowText" lastClr="000000"/>
                </a:solidFill>
                <a:effectLst/>
                <a:uLnTx/>
                <a:uFillTx/>
              </a:rPr>
              <a:t>سرعات نقل عالية جدًا ويدعم تقنيات المضاعفة بكفاءة، ويُستخدم على نطاق واسع في شبكات الاتصالات الحديثة.</a:t>
            </a:r>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654015"/>
            <a:ext cx="3816424" cy="2287153"/>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ZoneTexte 12"/>
          <p:cNvSpPr txBox="1"/>
          <p:nvPr/>
        </p:nvSpPr>
        <p:spPr>
          <a:xfrm>
            <a:off x="2592961" y="4396335"/>
            <a:ext cx="6110607" cy="400110"/>
          </a:xfrm>
          <a:prstGeom prst="rect">
            <a:avLst/>
          </a:prstGeom>
          <a:noFill/>
        </p:spPr>
        <p:txBody>
          <a:bodyPr wrap="square" rtlCol="0">
            <a:spAutoFit/>
          </a:bodyPr>
          <a:lstStyle/>
          <a:p>
            <a:pPr marL="342900" marR="0" lvl="0" indent="-342900" algn="r" defTabSz="914400" rtl="1" eaLnBrk="1" fontAlgn="auto" latinLnBrk="0" hangingPunct="1">
              <a:lnSpc>
                <a:spcPct val="100000"/>
              </a:lnSpc>
              <a:spcBef>
                <a:spcPts val="0"/>
              </a:spcBef>
              <a:spcAft>
                <a:spcPts val="0"/>
              </a:spcAft>
              <a:buClrTx/>
              <a:buSzTx/>
              <a:buFont typeface="Wingdings" pitchFamily="2" charset="2"/>
              <a:buChar char="ü"/>
              <a:tabLst/>
              <a:defRPr/>
            </a:pPr>
            <a:r>
              <a:rPr kumimoji="0" lang="fr-FR" sz="2000" b="1" i="0" u="sng" strike="noStrike" kern="0" cap="none" spc="0" normalizeH="0" baseline="0" noProof="0" dirty="0">
                <a:ln>
                  <a:noFill/>
                </a:ln>
                <a:solidFill>
                  <a:sysClr val="windowText" lastClr="000000"/>
                </a:solidFill>
                <a:effectLst/>
                <a:uLnTx/>
                <a:uFillTx/>
              </a:rPr>
              <a:t>PDH (Plesiochronous Digital Hierarchy</a:t>
            </a:r>
            <a:r>
              <a:rPr kumimoji="0" lang="fr-FR" sz="2000" b="0" i="0" u="sng" strike="noStrike" kern="0" cap="none" spc="0" normalizeH="0" baseline="0" noProof="0" dirty="0">
                <a:ln>
                  <a:noFill/>
                </a:ln>
                <a:solidFill>
                  <a:sysClr val="windowText" lastClr="000000"/>
                </a:solidFill>
                <a:effectLst/>
                <a:uLnTx/>
                <a:uFillTx/>
              </a:rPr>
              <a:t>)</a:t>
            </a:r>
          </a:p>
        </p:txBody>
      </p:sp>
      <p:sp>
        <p:nvSpPr>
          <p:cNvPr id="14" name="ZoneTexte 13"/>
          <p:cNvSpPr txBox="1"/>
          <p:nvPr/>
        </p:nvSpPr>
        <p:spPr>
          <a:xfrm>
            <a:off x="755576" y="4941168"/>
            <a:ext cx="7848872" cy="1015663"/>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هو نظام قديم نسبيًا لنقل الإشارات الرقمية، يعتمد على التزامن شبه المتساوي بين القنوات. يتميز ببنية بسيطة، إلا أنه يعاني من محدودية في السرعات وصعوبة في إدارة الإشارات مقارنةً بأنظمة </a:t>
            </a:r>
            <a:r>
              <a:rPr kumimoji="0" lang="fr-FR" sz="2000" b="0" i="0" u="none" strike="noStrike" kern="0" cap="none" spc="0" normalizeH="0" baseline="0" noProof="0" dirty="0">
                <a:ln>
                  <a:noFill/>
                </a:ln>
                <a:solidFill>
                  <a:sysClr val="windowText" lastClr="000000"/>
                </a:solidFill>
                <a:effectLst/>
                <a:uLnTx/>
                <a:uFillTx/>
              </a:rPr>
              <a:t>SONET </a:t>
            </a:r>
            <a:r>
              <a:rPr kumimoji="0" lang="ar-DZ" sz="2000" b="0" i="0" u="none" strike="noStrike" kern="0" cap="none" spc="0" normalizeH="0" baseline="0" noProof="0" dirty="0" smtClean="0">
                <a:ln>
                  <a:noFill/>
                </a:ln>
                <a:solidFill>
                  <a:sysClr val="windowText" lastClr="000000"/>
                </a:solidFill>
                <a:effectLst/>
                <a:uLnTx/>
                <a:uFillTx/>
              </a:rPr>
              <a:t> </a:t>
            </a:r>
            <a:r>
              <a:rPr kumimoji="0" lang="fr-FR" sz="2000" b="0" i="0" u="none" strike="noStrike" kern="0" cap="none" spc="0" normalizeH="0" baseline="0" noProof="0" dirty="0" smtClean="0">
                <a:ln>
                  <a:noFill/>
                </a:ln>
                <a:solidFill>
                  <a:sysClr val="windowText" lastClr="000000"/>
                </a:solidFill>
                <a:effectLst/>
                <a:uLnTx/>
                <a:uFillTx/>
              </a:rPr>
              <a:t> </a:t>
            </a:r>
            <a:r>
              <a:rPr kumimoji="0" lang="ar-DZ" sz="2000" b="0" i="0" u="none" strike="noStrike" kern="0" cap="none" spc="0" normalizeH="0" baseline="0" noProof="0" dirty="0">
                <a:ln>
                  <a:noFill/>
                </a:ln>
                <a:solidFill>
                  <a:sysClr val="windowText" lastClr="000000"/>
                </a:solidFill>
                <a:effectLst/>
                <a:uLnTx/>
                <a:uFillTx/>
              </a:rPr>
              <a:t>و </a:t>
            </a:r>
            <a:r>
              <a:rPr kumimoji="0" lang="fr-FR" sz="2000" b="0" i="0" u="none" strike="noStrike" kern="0" cap="none" spc="0" normalizeH="0" baseline="0" noProof="0" dirty="0">
                <a:ln>
                  <a:noFill/>
                </a:ln>
                <a:solidFill>
                  <a:sysClr val="windowText" lastClr="000000"/>
                </a:solidFill>
                <a:effectLst/>
                <a:uLnTx/>
                <a:uFillTx/>
              </a:rPr>
              <a:t>SDH</a:t>
            </a:r>
          </a:p>
        </p:txBody>
      </p:sp>
    </p:spTree>
    <p:extLst>
      <p:ext uri="{BB962C8B-B14F-4D97-AF65-F5344CB8AC3E}">
        <p14:creationId xmlns:p14="http://schemas.microsoft.com/office/powerpoint/2010/main" val="2135289006"/>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anim calcmode="lin" valueType="num">
                                      <p:cBhvr>
                                        <p:cTn id="8" dur="2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2000" fill="hold"/>
                                        <p:tgtEl>
                                          <p:spTgt spid="1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2000"/>
                                        <p:tgtEl>
                                          <p:spTgt spid="10">
                                            <p:txEl>
                                              <p:pRg st="1" end="1"/>
                                            </p:txEl>
                                          </p:spTgt>
                                        </p:tgtEl>
                                      </p:cBhvr>
                                    </p:animEffect>
                                    <p:anim calcmode="lin" valueType="num">
                                      <p:cBhvr>
                                        <p:cTn id="13" dur="2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2000" fill="hold"/>
                                        <p:tgtEl>
                                          <p:spTgt spid="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2000"/>
                                        <p:tgtEl>
                                          <p:spTgt spid="10">
                                            <p:txEl>
                                              <p:pRg st="2" end="2"/>
                                            </p:txEl>
                                          </p:spTgt>
                                        </p:tgtEl>
                                      </p:cBhvr>
                                    </p:animEffect>
                                    <p:anim calcmode="lin" valueType="num">
                                      <p:cBhvr>
                                        <p:cTn id="18" dur="2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9" dur="2000" fill="hold"/>
                                        <p:tgtEl>
                                          <p:spTgt spid="10">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anim calcmode="lin" valueType="num">
                                      <p:cBhvr>
                                        <p:cTn id="23" dur="2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4" dur="2000" fill="hold"/>
                                        <p:tgtEl>
                                          <p:spTgt spid="11">
                                            <p:txEl>
                                              <p:pRg st="0" end="0"/>
                                            </p:txEl>
                                          </p:spTgt>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160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42" presetClass="entr" presetSubtype="0" fill="hold" nodeType="with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fade">
                                      <p:cBhvr>
                                        <p:cTn id="32" dur="2000"/>
                                        <p:tgtEl>
                                          <p:spTgt spid="13">
                                            <p:txEl>
                                              <p:pRg st="0" end="0"/>
                                            </p:txEl>
                                          </p:spTgt>
                                        </p:tgtEl>
                                      </p:cBhvr>
                                    </p:animEffect>
                                    <p:anim calcmode="lin" valueType="num">
                                      <p:cBhvr>
                                        <p:cTn id="33" dur="2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4" dur="2000" fill="hold"/>
                                        <p:tgtEl>
                                          <p:spTgt spid="13">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fade">
                                      <p:cBhvr>
                                        <p:cTn id="37" dur="2000"/>
                                        <p:tgtEl>
                                          <p:spTgt spid="14">
                                            <p:txEl>
                                              <p:pRg st="0" end="0"/>
                                            </p:txEl>
                                          </p:spTgt>
                                        </p:tgtEl>
                                      </p:cBhvr>
                                    </p:animEffect>
                                    <p:anim calcmode="lin" valueType="num">
                                      <p:cBhvr>
                                        <p:cTn id="38" dur="2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9" dur="2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252536" y="-99392"/>
            <a:ext cx="1296144" cy="1080120"/>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7033338" y="-387424"/>
            <a:ext cx="1080120" cy="1080120"/>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8676456" y="2348880"/>
            <a:ext cx="864096" cy="1008112"/>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252536" y="2636912"/>
            <a:ext cx="1008112" cy="1224136"/>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4067944" y="6309320"/>
            <a:ext cx="1296144" cy="864096"/>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à coins arrondis 6"/>
          <p:cNvSpPr/>
          <p:nvPr/>
        </p:nvSpPr>
        <p:spPr>
          <a:xfrm>
            <a:off x="499374" y="404664"/>
            <a:ext cx="8208912" cy="6120680"/>
          </a:xfrm>
          <a:prstGeom prst="roundRect">
            <a:avLst/>
          </a:prstGeom>
          <a:solidFill>
            <a:schemeClr val="bg1"/>
          </a:solidFill>
          <a:ln>
            <a:solidFill>
              <a:schemeClr val="tx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2101189" y="2622103"/>
            <a:ext cx="5184576"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a:ln>
                  <a:noFill/>
                </a:ln>
                <a:solidFill>
                  <a:srgbClr val="FF0000"/>
                </a:solidFill>
                <a:effectLst/>
                <a:uLnTx/>
                <a:uFillTx/>
              </a:rPr>
              <a:t>استخدامات أجهزة الألياف البصرية :</a:t>
            </a:r>
          </a:p>
        </p:txBody>
      </p:sp>
      <p:sp>
        <p:nvSpPr>
          <p:cNvPr id="9" name="Rectangle 8"/>
          <p:cNvSpPr/>
          <p:nvPr/>
        </p:nvSpPr>
        <p:spPr>
          <a:xfrm>
            <a:off x="752610" y="3127590"/>
            <a:ext cx="7713909" cy="317009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smtClean="0">
                <a:ln>
                  <a:noFill/>
                </a:ln>
                <a:solidFill>
                  <a:sysClr val="windowText" lastClr="000000"/>
                </a:solidFill>
                <a:effectLst/>
                <a:uLnTx/>
                <a:uFillTx/>
              </a:rPr>
              <a:t>تُستخدم </a:t>
            </a:r>
            <a:r>
              <a:rPr kumimoji="0" lang="ar-DZ" sz="2000" b="0" i="0" u="none" strike="noStrike" kern="0" cap="none" spc="0" normalizeH="0" baseline="0" noProof="0" dirty="0">
                <a:ln>
                  <a:noFill/>
                </a:ln>
                <a:solidFill>
                  <a:sysClr val="windowText" lastClr="000000"/>
                </a:solidFill>
                <a:effectLst/>
                <a:uLnTx/>
                <a:uFillTx/>
              </a:rPr>
              <a:t>أجهزة الألياف البصرية على نطاق واسع في العديد من المجالات الحيوية، نظرًا لما توفّره من سرعات نقل عالية وجودة اتصال موثوقة. وتُعد شبكات الاتصالات من أبرز مجالات استخدامها، حيث تعتمد عليها في نقل المكالمات الهاتفية، وخدمات الإنترنت، والبيانات لمسافات طويلة وبكفاءة عالية.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كما تُستخدم أجهزة الألياف البصرية في شبكات الحاسوب ومراكز البيانات لربط الخوادم وتبادل كميات كبيرة من المعلومات بسرعة وأمان. بالإضافة إلى ذلك، تدخل هذه الأجهزة في أنظمة البث التلفزيوني ونقل الإشارات الإعلامية بجودة عالية.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وتُستعمل الألياف البصرية أيضًا في بعض التطبيقات الطبية </a:t>
            </a:r>
            <a:r>
              <a:rPr kumimoji="0" lang="ar-DZ" sz="2000" b="0" i="0" u="none" strike="noStrike" kern="0" cap="none" spc="0" normalizeH="0" baseline="0" noProof="0" dirty="0" smtClean="0">
                <a:ln>
                  <a:noFill/>
                </a:ln>
                <a:solidFill>
                  <a:sysClr val="windowText" lastClr="000000"/>
                </a:solidFill>
                <a:effectLst/>
                <a:uLnTx/>
                <a:uFillTx/>
              </a:rPr>
              <a:t>والصناعية</a:t>
            </a:r>
            <a:r>
              <a:rPr kumimoji="0" lang="fr-FR" sz="2000" b="0" i="0" u="none" strike="noStrike" kern="0" cap="none" spc="0" normalizeH="0" baseline="0" noProof="0" dirty="0" smtClean="0">
                <a:ln>
                  <a:noFill/>
                </a:ln>
                <a:solidFill>
                  <a:sysClr val="windowText" lastClr="000000"/>
                </a:solidFill>
                <a:effectLst/>
                <a:uLnTx/>
                <a:uFillTx/>
              </a:rPr>
              <a:t> </a:t>
            </a:r>
            <a:r>
              <a:rPr kumimoji="0" lang="ar-DZ" sz="2000" b="0" i="0" u="none" strike="noStrike" kern="0" cap="none" spc="0" normalizeH="0" baseline="0" noProof="0" dirty="0" smtClean="0">
                <a:ln>
                  <a:noFill/>
                </a:ln>
                <a:solidFill>
                  <a:sysClr val="windowText" lastClr="000000"/>
                </a:solidFill>
                <a:effectLst/>
                <a:uLnTx/>
                <a:uFillTx/>
              </a:rPr>
              <a:t>، </a:t>
            </a:r>
            <a:r>
              <a:rPr kumimoji="0" lang="ar-DZ" sz="2000" b="0" i="0" u="none" strike="noStrike" kern="0" cap="none" spc="0" normalizeH="0" baseline="0" noProof="0" dirty="0">
                <a:ln>
                  <a:noFill/>
                </a:ln>
                <a:solidFill>
                  <a:sysClr val="windowText" lastClr="000000"/>
                </a:solidFill>
                <a:effectLst/>
                <a:uLnTx/>
                <a:uFillTx/>
              </a:rPr>
              <a:t>مثل أجهزة التصوير والتنظير، </a:t>
            </a:r>
            <a:r>
              <a:rPr kumimoji="0" lang="ar-DZ" sz="2000" b="0" i="0" u="none" strike="noStrike" kern="0" cap="none" spc="0" normalizeH="0" baseline="0" noProof="0" dirty="0" smtClean="0">
                <a:ln>
                  <a:noFill/>
                </a:ln>
                <a:solidFill>
                  <a:sysClr val="windowText" lastClr="000000"/>
                </a:solidFill>
                <a:effectLst/>
                <a:uLnTx/>
                <a:uFillTx/>
              </a:rPr>
              <a:t>أنظمة </a:t>
            </a:r>
            <a:r>
              <a:rPr kumimoji="0" lang="ar-DZ" sz="2000" b="0" i="0" u="none" strike="noStrike" kern="0" cap="none" spc="0" normalizeH="0" baseline="0" noProof="0" dirty="0">
                <a:ln>
                  <a:noFill/>
                </a:ln>
                <a:solidFill>
                  <a:sysClr val="windowText" lastClr="000000"/>
                </a:solidFill>
                <a:effectLst/>
                <a:uLnTx/>
                <a:uFillTx/>
              </a:rPr>
              <a:t>المراقبة </a:t>
            </a:r>
            <a:r>
              <a:rPr kumimoji="0" lang="ar-DZ" sz="2000" b="0" i="0" u="none" strike="noStrike" kern="0" cap="none" spc="0" normalizeH="0" baseline="0" noProof="0" dirty="0" smtClean="0">
                <a:ln>
                  <a:noFill/>
                </a:ln>
                <a:solidFill>
                  <a:sysClr val="windowText" lastClr="000000"/>
                </a:solidFill>
                <a:effectLst/>
                <a:uLnTx/>
                <a:uFillTx/>
              </a:rPr>
              <a:t>والاتصالات الامنية </a:t>
            </a:r>
            <a:r>
              <a:rPr kumimoji="0" lang="ar-DZ" sz="2000" b="0" i="0" u="none" strike="noStrike" kern="0" cap="none" spc="0" normalizeH="0" baseline="0" noProof="0" dirty="0">
                <a:ln>
                  <a:noFill/>
                </a:ln>
                <a:solidFill>
                  <a:sysClr val="windowText" lastClr="000000"/>
                </a:solidFill>
                <a:effectLst/>
                <a:uLnTx/>
                <a:uFillTx/>
              </a:rPr>
              <a:t>العسكرية </a:t>
            </a:r>
            <a:r>
              <a:rPr kumimoji="0" lang="ar-DZ" sz="2000" b="0" i="0" u="none" strike="noStrike" kern="0" cap="none" spc="0" normalizeH="0" baseline="0" noProof="0" dirty="0" smtClean="0">
                <a:ln>
                  <a:noFill/>
                </a:ln>
                <a:solidFill>
                  <a:sysClr val="windowText" lastClr="000000"/>
                </a:solidFill>
                <a:effectLst/>
                <a:uLnTx/>
                <a:uFillTx/>
              </a:rPr>
              <a:t>، لما </a:t>
            </a:r>
            <a:r>
              <a:rPr kumimoji="0" lang="ar-DZ" sz="2000" b="0" i="0" u="none" strike="noStrike" kern="0" cap="none" spc="0" normalizeH="0" baseline="0" noProof="0" dirty="0">
                <a:ln>
                  <a:noFill/>
                </a:ln>
                <a:solidFill>
                  <a:sysClr val="windowText" lastClr="000000"/>
                </a:solidFill>
                <a:effectLst/>
                <a:uLnTx/>
                <a:uFillTx/>
              </a:rPr>
              <a:t>تتميز به من دقة عالية ومقاومة للتشويش الكهرومغناطيسي</a:t>
            </a:r>
            <a:r>
              <a:rPr kumimoji="0" lang="ar-DZ" sz="2000" b="0" i="0" u="none" strike="noStrike" kern="0" cap="none" spc="0" normalizeH="0" baseline="0" noProof="0" dirty="0" smtClean="0">
                <a:ln>
                  <a:noFill/>
                </a:ln>
                <a:solidFill>
                  <a:sysClr val="windowText" lastClr="000000"/>
                </a:solidFill>
                <a:effectLst/>
                <a:uLnTx/>
                <a:uFillTx/>
              </a:rPr>
              <a:t>. </a:t>
            </a:r>
            <a:endParaRPr kumimoji="0" lang="fr-FR" sz="2000" b="0" i="0" u="none" strike="noStrike" kern="0" cap="none" spc="0" normalizeH="0" baseline="0" noProof="0" dirty="0">
              <a:ln>
                <a:noFill/>
              </a:ln>
              <a:solidFill>
                <a:sysClr val="windowText" lastClr="000000"/>
              </a:solidFill>
              <a:effectLst/>
              <a:uLnTx/>
              <a:uFillTx/>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80" y="404663"/>
            <a:ext cx="6261100" cy="2217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4383481"/>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2000"/>
                                        <p:tgtEl>
                                          <p:spTgt spid="9">
                                            <p:txEl>
                                              <p:pRg st="0" end="0"/>
                                            </p:txEl>
                                          </p:spTgt>
                                        </p:tgtEl>
                                      </p:cBhvr>
                                    </p:animEffect>
                                    <p:anim calcmode="lin" valueType="num">
                                      <p:cBhvr>
                                        <p:cTn id="12" dur="2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3" dur="2000" fill="hold"/>
                                        <p:tgtEl>
                                          <p:spTgt spid="9">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animEffect transition="in" filter="fade">
                                      <p:cBhvr>
                                        <p:cTn id="16" dur="2000"/>
                                        <p:tgtEl>
                                          <p:spTgt spid="9">
                                            <p:txEl>
                                              <p:pRg st="1" end="1"/>
                                            </p:txEl>
                                          </p:spTgt>
                                        </p:tgtEl>
                                      </p:cBhvr>
                                    </p:animEffect>
                                    <p:anim calcmode="lin" valueType="num">
                                      <p:cBhvr>
                                        <p:cTn id="17" dur="2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8" dur="2000" fill="hold"/>
                                        <p:tgtEl>
                                          <p:spTgt spid="9">
                                            <p:txEl>
                                              <p:pRg st="1" end="1"/>
                                            </p:txEl>
                                          </p:spTgt>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2000"/>
                                        <p:tgtEl>
                                          <p:spTgt spid="9">
                                            <p:txEl>
                                              <p:pRg st="2" end="2"/>
                                            </p:txEl>
                                          </p:spTgt>
                                        </p:tgtEl>
                                      </p:cBhvr>
                                    </p:animEffect>
                                    <p:anim calcmode="lin" valueType="num">
                                      <p:cBhvr>
                                        <p:cTn id="22" dur="2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3" dur="2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2843808" y="-171400"/>
            <a:ext cx="1008112" cy="792088"/>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à coins arrondis 2"/>
          <p:cNvSpPr/>
          <p:nvPr/>
        </p:nvSpPr>
        <p:spPr>
          <a:xfrm>
            <a:off x="-540568" y="3068960"/>
            <a:ext cx="1152128" cy="1224136"/>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8460431" y="2276872"/>
            <a:ext cx="1274803" cy="1226150"/>
          </a:xfrm>
          <a:prstGeom prst="roundRect">
            <a:avLst/>
          </a:prstGeom>
          <a:solidFill>
            <a:srgbClr val="33CC33"/>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4139952" y="6237312"/>
            <a:ext cx="1224136" cy="936104"/>
          </a:xfrm>
          <a:prstGeom prst="roundRect">
            <a:avLst/>
          </a:prstGeom>
          <a:solidFill>
            <a:srgbClr val="00FFCC"/>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456619" y="404664"/>
            <a:ext cx="8280920" cy="6048672"/>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p:cNvSpPr txBox="1"/>
          <p:nvPr/>
        </p:nvSpPr>
        <p:spPr>
          <a:xfrm>
            <a:off x="3995936" y="2838127"/>
            <a:ext cx="5400600"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a:ln>
                  <a:noFill/>
                </a:ln>
                <a:solidFill>
                  <a:srgbClr val="FF0000"/>
                </a:solidFill>
                <a:effectLst/>
                <a:uLnTx/>
                <a:uFillTx/>
              </a:rPr>
              <a:t>مزايا أجهزة الألياف </a:t>
            </a:r>
            <a:r>
              <a:rPr kumimoji="0" lang="ar-DZ" sz="2400" b="1" i="0" u="none" strike="noStrike" kern="0" cap="none" spc="0" normalizeH="0" baseline="0" noProof="0" dirty="0" smtClean="0">
                <a:ln>
                  <a:noFill/>
                </a:ln>
                <a:solidFill>
                  <a:srgbClr val="FF0000"/>
                </a:solidFill>
                <a:effectLst/>
                <a:uLnTx/>
                <a:uFillTx/>
              </a:rPr>
              <a:t>البصرية :</a:t>
            </a:r>
            <a:endParaRPr kumimoji="0" lang="ar-DZ" sz="2400" b="1" i="0" u="none" strike="noStrike" kern="0" cap="none" spc="0" normalizeH="0" baseline="0" noProof="0" dirty="0">
              <a:ln>
                <a:noFill/>
              </a:ln>
              <a:solidFill>
                <a:srgbClr val="FF0000"/>
              </a:solidFill>
              <a:effectLst/>
              <a:uLnTx/>
              <a:uFillTx/>
            </a:endParaRPr>
          </a:p>
        </p:txBody>
      </p:sp>
      <p:sp>
        <p:nvSpPr>
          <p:cNvPr id="8" name="Rectangle 7"/>
          <p:cNvSpPr/>
          <p:nvPr/>
        </p:nvSpPr>
        <p:spPr>
          <a:xfrm>
            <a:off x="769696" y="2530168"/>
            <a:ext cx="3658289" cy="35394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ar-DZ" sz="2000" b="0" i="0" u="none" strike="noStrike" kern="0" cap="none" spc="0" normalizeH="0" baseline="0" noProof="0" dirty="0">
              <a:ln>
                <a:noFill/>
              </a:ln>
              <a:solidFill>
                <a:sysClr val="windowText" lastClr="000000"/>
              </a:solidFill>
              <a:effectLst/>
              <a:uLnTx/>
              <a:uFillTx/>
            </a:endParaRPr>
          </a:p>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smtClean="0">
                <a:ln>
                  <a:noFill/>
                </a:ln>
                <a:solidFill>
                  <a:srgbClr val="FF0000"/>
                </a:solidFill>
                <a:effectLst/>
                <a:uLnTx/>
                <a:uFillTx/>
              </a:rPr>
              <a:t>عيوب أجهزة الألياف البصرية :</a:t>
            </a:r>
            <a:endParaRPr lang="fr-FR" sz="2400" b="1" kern="0" dirty="0">
              <a:solidFill>
                <a:srgbClr val="FF0000"/>
              </a:solidFill>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b="0" i="0" u="none" strike="noStrike" kern="0" cap="none" spc="0" normalizeH="0" baseline="0" noProof="0" dirty="0" smtClean="0">
                <a:ln>
                  <a:noFill/>
                </a:ln>
                <a:solidFill>
                  <a:sysClr val="windowText" lastClr="000000"/>
                </a:solidFill>
                <a:effectLst/>
                <a:uLnTx/>
                <a:uFillTx/>
              </a:rPr>
              <a:t>على </a:t>
            </a:r>
            <a:r>
              <a:rPr kumimoji="0" lang="ar-DZ" b="0" i="0" u="none" strike="noStrike" kern="0" cap="none" spc="0" normalizeH="0" baseline="0" noProof="0" dirty="0">
                <a:ln>
                  <a:noFill/>
                </a:ln>
                <a:solidFill>
                  <a:sysClr val="windowText" lastClr="000000"/>
                </a:solidFill>
                <a:effectLst/>
                <a:uLnTx/>
                <a:uFillTx/>
              </a:rPr>
              <a:t>الرغم من مزاياها العديدة، إلا أن أجهزة الألياف البصرية تتطلب تكلفة أولية مرتفعة نسبيًا، سواء من حيث المعدات أو عمليات التركيب. كما تحتاج إلى دقة عالية في التركيب واللحام، مما يتطلب كوادر فنية متخصصة.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b="0" i="0" u="none" strike="noStrike" kern="0" cap="none" spc="0" normalizeH="0" baseline="0" noProof="0" dirty="0">
                <a:ln>
                  <a:noFill/>
                </a:ln>
                <a:solidFill>
                  <a:sysClr val="windowText" lastClr="000000"/>
                </a:solidFill>
                <a:effectLst/>
                <a:uLnTx/>
                <a:uFillTx/>
              </a:rPr>
              <a:t>إضافة إلى ذلك، فإن الألياف البصرية أكثر حساسية للكسر أو الانحناء الشديد مقارنة بالكابلات المعدنية، وقد تتأثر جودة الإشارة في حال حدوث أعطال في الوصلات أو الأجهزة المرافقة.</a:t>
            </a:r>
            <a:endParaRPr kumimoji="0" lang="fr-FR" b="0" i="0" u="none" strike="noStrike" kern="0" cap="none" spc="0" normalizeH="0" baseline="0" noProof="0" dirty="0">
              <a:ln>
                <a:noFill/>
              </a:ln>
              <a:solidFill>
                <a:sysClr val="windowText" lastClr="000000"/>
              </a:solidFill>
              <a:effectLst/>
              <a:uLnTx/>
              <a:uFillTx/>
            </a:endParaRPr>
          </a:p>
        </p:txBody>
      </p:sp>
      <p:sp>
        <p:nvSpPr>
          <p:cNvPr id="10" name="ZoneTexte 9"/>
          <p:cNvSpPr txBox="1"/>
          <p:nvPr/>
        </p:nvSpPr>
        <p:spPr>
          <a:xfrm>
            <a:off x="4427985" y="3187475"/>
            <a:ext cx="4140460" cy="2862322"/>
          </a:xfrm>
          <a:prstGeom prst="rect">
            <a:avLst/>
          </a:prstGeom>
          <a:noFill/>
        </p:spPr>
        <p:txBody>
          <a:bodyPr wrap="square" rtlCol="0">
            <a:spAutoFit/>
          </a:bodyPr>
          <a:lstStyle/>
          <a:p>
            <a:pPr algn="ctr"/>
            <a:r>
              <a:rPr lang="ar-DZ" dirty="0"/>
              <a:t>تتميّز </a:t>
            </a:r>
            <a:r>
              <a:rPr lang="ar-DZ" dirty="0" smtClean="0"/>
              <a:t>بقدرتها </a:t>
            </a:r>
            <a:r>
              <a:rPr lang="ar-DZ" dirty="0"/>
              <a:t>العالية على نقل البيانات بسرعات كبيرة </a:t>
            </a:r>
            <a:r>
              <a:rPr lang="ar-DZ" dirty="0" smtClean="0"/>
              <a:t>ولمسافات </a:t>
            </a:r>
            <a:r>
              <a:rPr lang="ar-DZ" dirty="0"/>
              <a:t>طويلة مع فقد منخفض للإشارة، مما يجعلها مناسبة لشبكات الاتصالات الحديثة. كما أنها غير متأثرة بالتشويش الكهرومغناطيسي، الأمر الذي يضمن جودة اتصال عالية واستقرارًا في الأداء.</a:t>
            </a:r>
          </a:p>
          <a:p>
            <a:pPr algn="r"/>
            <a:r>
              <a:rPr lang="ar-DZ" dirty="0"/>
              <a:t>وتتمتع هذه الأجهزة بدرجة عالية من الأمان، إذ يصعب التنصّت على الإشارات الضوئية مقارنة بوسائل النقل التقليدية. إضافة إلى ذلك، فإن حجمها الصغير ووزنها الخفيف يسهّلان عمليات التركيب والصيانة، كما تتيح قابلية </a:t>
            </a:r>
            <a:r>
              <a:rPr lang="ar-DZ" dirty="0" smtClean="0"/>
              <a:t>للتوسّع </a:t>
            </a:r>
            <a:r>
              <a:rPr lang="ar-DZ" dirty="0"/>
              <a:t>المستقبلي في الشبكات.</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120" y="807715"/>
            <a:ext cx="3889375" cy="203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595" y="859535"/>
            <a:ext cx="3730625" cy="203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9254029"/>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500"/>
                                        <p:tgtEl>
                                          <p:spTgt spid="7">
                                            <p:txEl>
                                              <p:pRg st="0" end="0"/>
                                            </p:txEl>
                                          </p:spTgt>
                                        </p:tgtEl>
                                      </p:cBhvr>
                                    </p:animEffect>
                                    <p:anim calcmode="lin" valueType="num">
                                      <p:cBhvr>
                                        <p:cTn id="13" dur="1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4" dur="1500" fill="hold"/>
                                        <p:tgtEl>
                                          <p:spTgt spid="7">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500"/>
                                        <p:tgtEl>
                                          <p:spTgt spid="10"/>
                                        </p:tgtEl>
                                      </p:cBhvr>
                                    </p:animEffect>
                                    <p:anim calcmode="lin" valueType="num">
                                      <p:cBhvr>
                                        <p:cTn id="18" dur="1500" fill="hold"/>
                                        <p:tgtEl>
                                          <p:spTgt spid="10"/>
                                        </p:tgtEl>
                                        <p:attrNameLst>
                                          <p:attrName>ppt_x</p:attrName>
                                        </p:attrNameLst>
                                      </p:cBhvr>
                                      <p:tavLst>
                                        <p:tav tm="0">
                                          <p:val>
                                            <p:strVal val="#ppt_x"/>
                                          </p:val>
                                        </p:tav>
                                        <p:tav tm="100000">
                                          <p:val>
                                            <p:strVal val="#ppt_x"/>
                                          </p:val>
                                        </p:tav>
                                      </p:tavLst>
                                    </p:anim>
                                    <p:anim calcmode="lin" valueType="num">
                                      <p:cBhvr>
                                        <p:cTn id="19" dur="15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1500"/>
                                        <p:tgtEl>
                                          <p:spTgt spid="8">
                                            <p:txEl>
                                              <p:pRg st="2" end="2"/>
                                            </p:txEl>
                                          </p:spTgt>
                                        </p:tgtEl>
                                      </p:cBhvr>
                                    </p:animEffect>
                                    <p:anim calcmode="lin" valueType="num">
                                      <p:cBhvr>
                                        <p:cTn id="23" dur="15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4" dur="1500" fill="hold"/>
                                        <p:tgtEl>
                                          <p:spTgt spid="8">
                                            <p:txEl>
                                              <p:pRg st="2" end="2"/>
                                            </p:txEl>
                                          </p:spTgt>
                                        </p:tgtEl>
                                        <p:attrNameLst>
                                          <p:attrName>ppt_y</p:attrName>
                                        </p:attrNameLst>
                                      </p:cBhvr>
                                      <p:tavLst>
                                        <p:tav tm="0">
                                          <p:val>
                                            <p:strVal val="#ppt_y+.1"/>
                                          </p:val>
                                        </p:tav>
                                        <p:tav tm="100000">
                                          <p:val>
                                            <p:strVal val="#ppt_y"/>
                                          </p:val>
                                        </p:tav>
                                      </p:tavLst>
                                    </p:anim>
                                  </p:childTnLst>
                                </p:cTn>
                              </p:par>
                              <p:par>
                                <p:cTn id="25" presetID="16" presetClass="entr" presetSubtype="21" fill="hold" nodeType="withEffect">
                                  <p:stCondLst>
                                    <p:cond delay="1200"/>
                                  </p:stCondLst>
                                  <p:childTnLst>
                                    <p:set>
                                      <p:cBhvr>
                                        <p:cTn id="26" dur="1" fill="hold">
                                          <p:stCondLst>
                                            <p:cond delay="0"/>
                                          </p:stCondLst>
                                        </p:cTn>
                                        <p:tgtEl>
                                          <p:spTgt spid="3076"/>
                                        </p:tgtEl>
                                        <p:attrNameLst>
                                          <p:attrName>style.visibility</p:attrName>
                                        </p:attrNameLst>
                                      </p:cBhvr>
                                      <p:to>
                                        <p:strVal val="visible"/>
                                      </p:to>
                                    </p:set>
                                    <p:animEffect transition="in" filter="barn(inVertical)">
                                      <p:cBhvr>
                                        <p:cTn id="27" dur="2000"/>
                                        <p:tgtEl>
                                          <p:spTgt spid="3076"/>
                                        </p:tgtEl>
                                      </p:cBhvr>
                                    </p:animEffect>
                                  </p:childTnLst>
                                </p:cTn>
                              </p:par>
                              <p:par>
                                <p:cTn id="28" presetID="42" presetClass="entr" presetSubtype="0" fill="hold" nodeType="withEffect">
                                  <p:stCondLst>
                                    <p:cond delay="0"/>
                                  </p:stCondLst>
                                  <p:childTnLst>
                                    <p:set>
                                      <p:cBhvr>
                                        <p:cTn id="29" dur="1" fill="hold">
                                          <p:stCondLst>
                                            <p:cond delay="0"/>
                                          </p:stCondLst>
                                        </p:cTn>
                                        <p:tgtEl>
                                          <p:spTgt spid="8">
                                            <p:txEl>
                                              <p:pRg st="3" end="3"/>
                                            </p:txEl>
                                          </p:spTgt>
                                        </p:tgtEl>
                                        <p:attrNameLst>
                                          <p:attrName>style.visibility</p:attrName>
                                        </p:attrNameLst>
                                      </p:cBhvr>
                                      <p:to>
                                        <p:strVal val="visible"/>
                                      </p:to>
                                    </p:set>
                                    <p:animEffect transition="in" filter="fade">
                                      <p:cBhvr>
                                        <p:cTn id="30" dur="1500"/>
                                        <p:tgtEl>
                                          <p:spTgt spid="8">
                                            <p:txEl>
                                              <p:pRg st="3" end="3"/>
                                            </p:txEl>
                                          </p:spTgt>
                                        </p:tgtEl>
                                      </p:cBhvr>
                                    </p:animEffect>
                                    <p:anim calcmode="lin" valueType="num">
                                      <p:cBhvr>
                                        <p:cTn id="31" dur="15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2" dur="1500" fill="hold"/>
                                        <p:tgtEl>
                                          <p:spTgt spid="8">
                                            <p:txEl>
                                              <p:pRg st="3" end="3"/>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1500"/>
                                        <p:tgtEl>
                                          <p:spTgt spid="10">
                                            <p:txEl>
                                              <p:pRg st="0" end="0"/>
                                            </p:txEl>
                                          </p:spTgt>
                                        </p:tgtEl>
                                      </p:cBhvr>
                                    </p:animEffect>
                                    <p:anim calcmode="lin" valueType="num">
                                      <p:cBhvr>
                                        <p:cTn id="36" dur="15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7" dur="1500" fill="hold"/>
                                        <p:tgtEl>
                                          <p:spTgt spid="10">
                                            <p:txEl>
                                              <p:pRg st="0" end="0"/>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0">
                                            <p:txEl>
                                              <p:pRg st="1" end="1"/>
                                            </p:txEl>
                                          </p:spTgt>
                                        </p:tgtEl>
                                        <p:attrNameLst>
                                          <p:attrName>style.visibility</p:attrName>
                                        </p:attrNameLst>
                                      </p:cBhvr>
                                      <p:to>
                                        <p:strVal val="visible"/>
                                      </p:to>
                                    </p:set>
                                    <p:animEffect transition="in" filter="fade">
                                      <p:cBhvr>
                                        <p:cTn id="40" dur="1500"/>
                                        <p:tgtEl>
                                          <p:spTgt spid="10">
                                            <p:txEl>
                                              <p:pRg st="1" end="1"/>
                                            </p:txEl>
                                          </p:spTgt>
                                        </p:tgtEl>
                                      </p:cBhvr>
                                    </p:animEffect>
                                    <p:anim calcmode="lin" valueType="num">
                                      <p:cBhvr>
                                        <p:cTn id="41" dur="15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42" dur="1500" fill="hold"/>
                                        <p:tgtEl>
                                          <p:spTgt spid="10">
                                            <p:txEl>
                                              <p:pRg st="1" end="1"/>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
                                            <p:txEl>
                                              <p:pRg st="1" end="1"/>
                                            </p:txEl>
                                          </p:spTgt>
                                        </p:tgtEl>
                                        <p:attrNameLst>
                                          <p:attrName>style.visibility</p:attrName>
                                        </p:attrNameLst>
                                      </p:cBhvr>
                                      <p:to>
                                        <p:strVal val="visible"/>
                                      </p:to>
                                    </p:set>
                                    <p:animEffect transition="in" filter="fade">
                                      <p:cBhvr>
                                        <p:cTn id="45" dur="1500"/>
                                        <p:tgtEl>
                                          <p:spTgt spid="8">
                                            <p:txEl>
                                              <p:pRg st="1" end="1"/>
                                            </p:txEl>
                                          </p:spTgt>
                                        </p:tgtEl>
                                      </p:cBhvr>
                                    </p:animEffect>
                                    <p:anim calcmode="lin" valueType="num">
                                      <p:cBhvr>
                                        <p:cTn id="46" dur="15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47" dur="1500" fill="hold"/>
                                        <p:tgtEl>
                                          <p:spTgt spid="8">
                                            <p:txEl>
                                              <p:pRg st="1" end="1"/>
                                            </p:txEl>
                                          </p:spTgt>
                                        </p:tgtEl>
                                        <p:attrNameLst>
                                          <p:attrName>ppt_y</p:attrName>
                                        </p:attrNameLst>
                                      </p:cBhvr>
                                      <p:tavLst>
                                        <p:tav tm="0">
                                          <p:val>
                                            <p:strVal val="#ppt_y+.1"/>
                                          </p:val>
                                        </p:tav>
                                        <p:tav tm="100000">
                                          <p:val>
                                            <p:strVal val="#ppt_y"/>
                                          </p:val>
                                        </p:tav>
                                      </p:tavLst>
                                    </p:anim>
                                  </p:childTnLst>
                                </p:cTn>
                              </p:par>
                              <p:par>
                                <p:cTn id="48" presetID="16" presetClass="entr" presetSubtype="21" fill="hold" nodeType="withEffect">
                                  <p:stCondLst>
                                    <p:cond delay="1200"/>
                                  </p:stCondLst>
                                  <p:childTnLst>
                                    <p:set>
                                      <p:cBhvr>
                                        <p:cTn id="49" dur="1" fill="hold">
                                          <p:stCondLst>
                                            <p:cond delay="0"/>
                                          </p:stCondLst>
                                        </p:cTn>
                                        <p:tgtEl>
                                          <p:spTgt spid="3075"/>
                                        </p:tgtEl>
                                        <p:attrNameLst>
                                          <p:attrName>style.visibility</p:attrName>
                                        </p:attrNameLst>
                                      </p:cBhvr>
                                      <p:to>
                                        <p:strVal val="visible"/>
                                      </p:to>
                                    </p:set>
                                    <p:animEffect transition="in" filter="barn(inVertical)">
                                      <p:cBhvr>
                                        <p:cTn id="50" dur="20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3923928" y="-684076"/>
            <a:ext cx="1080120" cy="1368152"/>
          </a:xfrm>
          <a:prstGeom prst="roundRect">
            <a:avLst/>
          </a:prstGeom>
          <a:solidFill>
            <a:srgbClr val="008080"/>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à coins arrondis 3"/>
          <p:cNvSpPr/>
          <p:nvPr/>
        </p:nvSpPr>
        <p:spPr>
          <a:xfrm>
            <a:off x="-342546" y="5768153"/>
            <a:ext cx="1224136" cy="1224136"/>
          </a:xfrm>
          <a:prstGeom prst="roundRect">
            <a:avLst/>
          </a:prstGeom>
          <a:solidFill>
            <a:srgbClr val="40DC9D"/>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6876256" y="5949280"/>
            <a:ext cx="1368152" cy="1224136"/>
          </a:xfrm>
          <a:prstGeom prst="roundRect">
            <a:avLst/>
          </a:prstGeom>
          <a:solidFill>
            <a:srgbClr val="478958"/>
          </a:solidFill>
          <a:ln>
            <a:solidFill>
              <a:schemeClr val="bg1"/>
            </a:solidFill>
          </a:ln>
          <a:effectLst>
            <a:outerShdw blurRad="381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à coins arrondis 5"/>
          <p:cNvSpPr/>
          <p:nvPr/>
        </p:nvSpPr>
        <p:spPr>
          <a:xfrm>
            <a:off x="467544" y="404664"/>
            <a:ext cx="8280920" cy="6048672"/>
          </a:xfrm>
          <a:prstGeom prst="roundRect">
            <a:avLst/>
          </a:prstGeom>
          <a:solidFill>
            <a:schemeClr val="bg1"/>
          </a:solidFill>
          <a:ln>
            <a:solidFill>
              <a:schemeClr val="tx1"/>
            </a:solidFill>
          </a:ln>
          <a:effectLst>
            <a:outerShdw blurRad="10160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ZoneTexte 7"/>
          <p:cNvSpPr txBox="1"/>
          <p:nvPr/>
        </p:nvSpPr>
        <p:spPr>
          <a:xfrm>
            <a:off x="2591780" y="453243"/>
            <a:ext cx="4248472" cy="461665"/>
          </a:xfrm>
          <a:prstGeom prst="rect">
            <a:avLst/>
          </a:prstGeom>
          <a:noFill/>
        </p:spPr>
        <p:txBody>
          <a:bodyPr wrap="square" rtlCol="0">
            <a:spAutoFit/>
          </a:bodyPr>
          <a:lstStyle/>
          <a:p>
            <a:pPr marL="342900" marR="0" lvl="0" indent="-342900" algn="ctr" defTabSz="914400" rtl="1" eaLnBrk="1" fontAlgn="auto" latinLnBrk="0" hangingPunct="1">
              <a:lnSpc>
                <a:spcPct val="100000"/>
              </a:lnSpc>
              <a:spcBef>
                <a:spcPts val="0"/>
              </a:spcBef>
              <a:spcAft>
                <a:spcPts val="0"/>
              </a:spcAft>
              <a:buClrTx/>
              <a:buSzTx/>
              <a:buFont typeface="Wingdings" pitchFamily="2" charset="2"/>
              <a:buChar char="Ø"/>
              <a:tabLst/>
              <a:defRPr/>
            </a:pPr>
            <a:r>
              <a:rPr kumimoji="0" lang="ar-DZ" sz="2400" b="1" i="0" u="none" strike="noStrike" kern="0" cap="none" spc="0" normalizeH="0" baseline="0" noProof="0" dirty="0">
                <a:ln>
                  <a:noFill/>
                </a:ln>
                <a:solidFill>
                  <a:srgbClr val="FF0000"/>
                </a:solidFill>
                <a:effectLst/>
                <a:uLnTx/>
                <a:uFillTx/>
              </a:rPr>
              <a:t>الفرق بين </a:t>
            </a:r>
            <a:r>
              <a:rPr kumimoji="0" lang="fr-FR" sz="2400" b="1" i="0" u="none" strike="noStrike" kern="0" cap="none" spc="0" normalizeH="0" baseline="0" noProof="0" dirty="0">
                <a:ln>
                  <a:noFill/>
                </a:ln>
                <a:solidFill>
                  <a:srgbClr val="FF0000"/>
                </a:solidFill>
                <a:effectLst/>
                <a:uLnTx/>
                <a:uFillTx/>
              </a:rPr>
              <a:t>SONET </a:t>
            </a:r>
            <a:r>
              <a:rPr kumimoji="0" lang="ar-DZ" sz="2400" b="1" i="0" u="none" strike="noStrike" kern="0" cap="none" spc="0" normalizeH="0" baseline="0" noProof="0" dirty="0" smtClean="0">
                <a:ln>
                  <a:noFill/>
                </a:ln>
                <a:solidFill>
                  <a:srgbClr val="FF0000"/>
                </a:solidFill>
                <a:effectLst/>
                <a:uLnTx/>
                <a:uFillTx/>
              </a:rPr>
              <a:t> و </a:t>
            </a:r>
            <a:r>
              <a:rPr kumimoji="0" lang="fr-FR" sz="2400" b="1" i="0" u="none" strike="noStrike" kern="0" cap="none" spc="0" normalizeH="0" baseline="0" noProof="0" dirty="0" smtClean="0">
                <a:ln>
                  <a:noFill/>
                </a:ln>
                <a:solidFill>
                  <a:srgbClr val="FF0000"/>
                </a:solidFill>
                <a:effectLst/>
                <a:uLnTx/>
                <a:uFillTx/>
              </a:rPr>
              <a:t>SDH</a:t>
            </a:r>
            <a:r>
              <a:rPr kumimoji="0" lang="ar-DZ" sz="2400" b="1" i="0" u="none" strike="noStrike" kern="0" cap="none" spc="0" normalizeH="0" baseline="0" noProof="0" dirty="0" smtClean="0">
                <a:ln>
                  <a:noFill/>
                </a:ln>
                <a:solidFill>
                  <a:srgbClr val="FF0000"/>
                </a:solidFill>
                <a:effectLst/>
                <a:uLnTx/>
                <a:uFillTx/>
              </a:rPr>
              <a:t> :</a:t>
            </a:r>
            <a:endParaRPr kumimoji="0" lang="fr-FR" sz="2400" b="1" i="0" u="none" strike="noStrike" kern="0" cap="none" spc="0" normalizeH="0" baseline="0" noProof="0" dirty="0">
              <a:ln>
                <a:noFill/>
              </a:ln>
              <a:solidFill>
                <a:srgbClr val="FF0000"/>
              </a:solidFill>
              <a:effectLst/>
              <a:uLnTx/>
              <a:uFillTx/>
            </a:endParaRPr>
          </a:p>
        </p:txBody>
      </p:sp>
      <p:sp>
        <p:nvSpPr>
          <p:cNvPr id="9" name="Rectangle 8"/>
          <p:cNvSpPr/>
          <p:nvPr/>
        </p:nvSpPr>
        <p:spPr>
          <a:xfrm>
            <a:off x="827584" y="1081462"/>
            <a:ext cx="7776864" cy="255454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smtClean="0">
                <a:ln>
                  <a:noFill/>
                </a:ln>
                <a:solidFill>
                  <a:sysClr val="windowText" lastClr="000000"/>
                </a:solidFill>
                <a:effectLst/>
                <a:uLnTx/>
                <a:uFillTx/>
              </a:rPr>
              <a:t>SONET</a:t>
            </a:r>
            <a:r>
              <a:rPr kumimoji="0" lang="ar-DZ" sz="2000" b="0" i="0" u="none" strike="noStrike" kern="0" cap="none" spc="0" normalizeH="0" baseline="0" noProof="0" dirty="0" smtClean="0">
                <a:ln>
                  <a:noFill/>
                </a:ln>
                <a:solidFill>
                  <a:sysClr val="windowText" lastClr="000000"/>
                </a:solidFill>
                <a:effectLst/>
                <a:uLnTx/>
                <a:uFillTx/>
              </a:rPr>
              <a:t> </a:t>
            </a:r>
            <a:r>
              <a:rPr kumimoji="0" lang="fr-FR" sz="2000" b="0" i="0" u="none" strike="noStrike" kern="0" cap="none" spc="0" normalizeH="0" baseline="0" noProof="0" dirty="0" smtClean="0">
                <a:ln>
                  <a:noFill/>
                </a:ln>
                <a:solidFill>
                  <a:sysClr val="windowText" lastClr="000000"/>
                </a:solidFill>
                <a:effectLst/>
                <a:uLnTx/>
                <a:uFillTx/>
              </a:rPr>
              <a:t> </a:t>
            </a:r>
            <a:r>
              <a:rPr kumimoji="0" lang="ar-DZ" sz="2000" b="0" i="0" u="none" strike="noStrike" kern="0" cap="none" spc="0" normalizeH="0" baseline="0" noProof="0" dirty="0">
                <a:ln>
                  <a:noFill/>
                </a:ln>
                <a:solidFill>
                  <a:sysClr val="windowText" lastClr="000000"/>
                </a:solidFill>
                <a:effectLst/>
                <a:uLnTx/>
                <a:uFillTx/>
              </a:rPr>
              <a:t>هو معيار نقل ضوئي متزامن تم تطويره واستخدامه أساسًا في الولايات المتحدة.</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smtClean="0">
                <a:ln>
                  <a:noFill/>
                </a:ln>
                <a:solidFill>
                  <a:sysClr val="windowText" lastClr="000000"/>
                </a:solidFill>
                <a:effectLst/>
                <a:uLnTx/>
                <a:uFillTx/>
              </a:rPr>
              <a:t>SDH</a:t>
            </a:r>
            <a:r>
              <a:rPr kumimoji="0" lang="ar-DZ" sz="2000" b="0" i="0" u="none" strike="noStrike" kern="0" cap="none" spc="0" normalizeH="0" baseline="0" noProof="0" dirty="0" smtClean="0">
                <a:ln>
                  <a:noFill/>
                </a:ln>
                <a:solidFill>
                  <a:sysClr val="windowText" lastClr="000000"/>
                </a:solidFill>
                <a:effectLst/>
                <a:uLnTx/>
                <a:uFillTx/>
              </a:rPr>
              <a:t> </a:t>
            </a:r>
            <a:r>
              <a:rPr kumimoji="0" lang="fr-FR" sz="2000" b="0" i="0" u="none" strike="noStrike" kern="0" cap="none" spc="0" normalizeH="0" baseline="0" noProof="0" dirty="0" smtClean="0">
                <a:ln>
                  <a:noFill/>
                </a:ln>
                <a:solidFill>
                  <a:sysClr val="windowText" lastClr="000000"/>
                </a:solidFill>
                <a:effectLst/>
                <a:uLnTx/>
                <a:uFillTx/>
              </a:rPr>
              <a:t> </a:t>
            </a:r>
            <a:r>
              <a:rPr kumimoji="0" lang="ar-DZ" sz="2000" b="0" i="0" u="none" strike="noStrike" kern="0" cap="none" spc="0" normalizeH="0" baseline="0" noProof="0" dirty="0">
                <a:ln>
                  <a:noFill/>
                </a:ln>
                <a:solidFill>
                  <a:sysClr val="windowText" lastClr="000000"/>
                </a:solidFill>
                <a:effectLst/>
                <a:uLnTx/>
                <a:uFillTx/>
              </a:rPr>
              <a:t>هو المعيار الدولي لنقل البيانات المتزامنة، وقد تم تطويره ليكون أكثر شمولًا وانتشارًا عالميًا.</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DZ" sz="2000" b="0" i="0" u="none" strike="noStrike" kern="0" cap="none" spc="0" normalizeH="0" baseline="0" noProof="0" dirty="0">
                <a:ln>
                  <a:noFill/>
                </a:ln>
                <a:solidFill>
                  <a:sysClr val="windowText" lastClr="000000"/>
                </a:solidFill>
                <a:effectLst/>
                <a:uLnTx/>
                <a:uFillTx/>
              </a:rPr>
              <a:t>من الناحية التقنية، يعتمد النظامان على نفس مبدأ التزامن وإطارات النقل، ويقدّمان سرعات عالية وإدارة فعّالة للشبكات. إلا أن الاختلاف الأساسي يكمن في التسميات، مستويات السرعات، ونطاق الانتشار الجغرافي، حيث يُعد </a:t>
            </a:r>
            <a:r>
              <a:rPr kumimoji="0" lang="fr-FR" sz="2000" b="0" i="0" u="none" strike="noStrike" kern="0" cap="none" spc="0" normalizeH="0" baseline="0" noProof="0" dirty="0" smtClean="0">
                <a:ln>
                  <a:noFill/>
                </a:ln>
                <a:solidFill>
                  <a:sysClr val="windowText" lastClr="000000"/>
                </a:solidFill>
                <a:effectLst/>
                <a:uLnTx/>
                <a:uFillTx/>
              </a:rPr>
              <a:t>SDH</a:t>
            </a:r>
            <a:r>
              <a:rPr kumimoji="0" lang="ar-DZ" sz="2000" b="0" i="0" u="none" strike="noStrike" kern="0" cap="none" spc="0" normalizeH="0" baseline="0" noProof="0" dirty="0" smtClean="0">
                <a:ln>
                  <a:noFill/>
                </a:ln>
                <a:solidFill>
                  <a:sysClr val="windowText" lastClr="000000"/>
                </a:solidFill>
                <a:effectLst/>
                <a:uLnTx/>
                <a:uFillTx/>
              </a:rPr>
              <a:t> </a:t>
            </a:r>
            <a:r>
              <a:rPr kumimoji="0" lang="fr-FR" sz="2000" b="0" i="0" u="none" strike="noStrike" kern="0" cap="none" spc="0" normalizeH="0" baseline="0" noProof="0" dirty="0" smtClean="0">
                <a:ln>
                  <a:noFill/>
                </a:ln>
                <a:solidFill>
                  <a:sysClr val="windowText" lastClr="000000"/>
                </a:solidFill>
                <a:effectLst/>
                <a:uLnTx/>
                <a:uFillTx/>
              </a:rPr>
              <a:t> </a:t>
            </a:r>
            <a:r>
              <a:rPr kumimoji="0" lang="ar-DZ" sz="2000" b="0" i="0" u="none" strike="noStrike" kern="0" cap="none" spc="0" normalizeH="0" baseline="0" noProof="0" dirty="0">
                <a:ln>
                  <a:noFill/>
                </a:ln>
                <a:solidFill>
                  <a:sysClr val="windowText" lastClr="000000"/>
                </a:solidFill>
                <a:effectLst/>
                <a:uLnTx/>
                <a:uFillTx/>
              </a:rPr>
              <a:t>التطوير الأوسع والأكثر استخدامًا مقارنةً بـ </a:t>
            </a:r>
            <a:r>
              <a:rPr kumimoji="0" lang="fr-FR" sz="2000" b="0" i="0" u="none" strike="noStrike" kern="0" cap="none" spc="0" normalizeH="0" baseline="0" noProof="0" dirty="0">
                <a:ln>
                  <a:noFill/>
                </a:ln>
                <a:solidFill>
                  <a:sysClr val="windowText" lastClr="000000"/>
                </a:solidFill>
                <a:effectLst/>
                <a:uLnTx/>
                <a:uFillTx/>
              </a:rPr>
              <a:t>SONET</a:t>
            </a:r>
            <a:r>
              <a:rPr kumimoji="0" lang="fr-FR" sz="2000" b="0" i="0" u="none" strike="noStrike" kern="0" cap="none" spc="0" normalizeH="0" baseline="0" noProof="0" dirty="0" smtClean="0">
                <a:ln>
                  <a:noFill/>
                </a:ln>
                <a:solidFill>
                  <a:sysClr val="windowText" lastClr="000000"/>
                </a:solidFill>
                <a:effectLst/>
                <a:uLnTx/>
                <a:uFillTx/>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dirty="0">
              <a:ln>
                <a:noFill/>
              </a:ln>
              <a:solidFill>
                <a:sysClr val="windowText" lastClr="000000"/>
              </a:solidFill>
              <a:effectLst/>
              <a:uLnTx/>
              <a:uFillTx/>
            </a:endParaRP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343" y="3636007"/>
            <a:ext cx="3954972" cy="2385281"/>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429000"/>
            <a:ext cx="3278731" cy="2664296"/>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8681488"/>
      </p:ext>
    </p:extLst>
  </p:cSld>
  <p:clrMapOvr>
    <a:masterClrMapping/>
  </p:clrMapOvr>
  <mc:AlternateContent xmlns:mc="http://schemas.openxmlformats.org/markup-compatibility/2006" xmlns:p14="http://schemas.microsoft.com/office/powerpoint/2010/main">
    <mc:Choice Requires="p14">
      <p:transition spd="slow" p14:dur="2000" advClick="0" advTm="5000">
        <p:wipe/>
      </p:transition>
    </mc:Choice>
    <mc:Fallback xmlns="">
      <p:transition spd="slow" advClick="0" advTm="5000">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2000"/>
                                        <p:tgtEl>
                                          <p:spTgt spid="9">
                                            <p:txEl>
                                              <p:pRg st="0" end="0"/>
                                            </p:txEl>
                                          </p:spTgt>
                                        </p:tgtEl>
                                      </p:cBhvr>
                                    </p:animEffect>
                                    <p:anim calcmode="lin" valueType="num">
                                      <p:cBhvr>
                                        <p:cTn id="11" dur="2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2" dur="2000" fill="hold"/>
                                        <p:tgtEl>
                                          <p:spTgt spid="9">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2000"/>
                                        <p:tgtEl>
                                          <p:spTgt spid="9">
                                            <p:txEl>
                                              <p:pRg st="1" end="1"/>
                                            </p:txEl>
                                          </p:spTgt>
                                        </p:tgtEl>
                                      </p:cBhvr>
                                    </p:animEffect>
                                    <p:anim calcmode="lin" valueType="num">
                                      <p:cBhvr>
                                        <p:cTn id="16" dur="2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7" dur="2000" fill="hold"/>
                                        <p:tgtEl>
                                          <p:spTgt spid="9">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fade">
                                      <p:cBhvr>
                                        <p:cTn id="20" dur="2000"/>
                                        <p:tgtEl>
                                          <p:spTgt spid="9">
                                            <p:txEl>
                                              <p:pRg st="2" end="2"/>
                                            </p:txEl>
                                          </p:spTgt>
                                        </p:tgtEl>
                                      </p:cBhvr>
                                    </p:animEffect>
                                    <p:anim calcmode="lin" valueType="num">
                                      <p:cBhvr>
                                        <p:cTn id="21" dur="2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2" dur="2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TotalTime>
  <Words>1308</Words>
  <Application>Microsoft Office PowerPoint</Application>
  <PresentationFormat>Affichage à l'écran (4:3)</PresentationFormat>
  <Paragraphs>102</Paragraphs>
  <Slides>14</Slides>
  <Notes>0</Notes>
  <HiddenSlides>0</HiddenSlides>
  <MMClips>0</MMClips>
  <ScaleCrop>false</ScaleCrop>
  <HeadingPairs>
    <vt:vector size="4" baseType="variant">
      <vt:variant>
        <vt:lpstr>Thème</vt:lpstr>
      </vt:variant>
      <vt:variant>
        <vt:i4>1</vt:i4>
      </vt:variant>
      <vt:variant>
        <vt:lpstr>Titres des diapositives</vt:lpstr>
      </vt:variant>
      <vt:variant>
        <vt:i4>14</vt:i4>
      </vt:variant>
    </vt:vector>
  </HeadingPairs>
  <TitlesOfParts>
    <vt:vector size="15" baseType="lpstr">
      <vt:lpstr>Thème Office</vt:lpstr>
      <vt:lpstr>Présentation PowerPoint</vt:lpstr>
      <vt:lpstr>Présentation PowerPoint</vt:lpstr>
      <vt:lpstr>Présentation PowerPoint</vt:lpstr>
      <vt:lpst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TRA_118</dc:creator>
  <cp:lastModifiedBy>TRA_118</cp:lastModifiedBy>
  <cp:revision>30</cp:revision>
  <dcterms:created xsi:type="dcterms:W3CDTF">2026-02-16T12:25:33Z</dcterms:created>
  <dcterms:modified xsi:type="dcterms:W3CDTF">2026-03-25T04:24:17Z</dcterms:modified>
</cp:coreProperties>
</file>